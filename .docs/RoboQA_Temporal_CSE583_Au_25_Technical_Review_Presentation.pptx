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Roboto"/>
      <p:regular r:id="rId20"/>
      <p:bold r:id="rId21"/>
      <p:italic r:id="rId22"/>
      <p:boldItalic r:id="rId23"/>
    </p:embeddedFont>
    <p:embeddedFont>
      <p:font typeface="Encode Sans"/>
      <p:regular r:id="rId24"/>
      <p:bold r:id="rId25"/>
    </p:embeddedFont>
    <p:embeddedFont>
      <p:font typeface="Encode Sans Black"/>
      <p:bold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16531C-AD76-45C2-81AC-FE34C9191F49}">
  <a:tblStyle styleId="{3E16531C-AD76-45C2-81AC-FE34C9191F4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EncodeSans-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EncodeSansBlack-bold.fntdata"/><Relationship Id="rId25" Type="http://schemas.openxmlformats.org/officeDocument/2006/relationships/font" Target="fonts/EncodeSans-bold.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OpenSans-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Open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Most ML work focuses on model architectures and training techniques. But there's something that comes first—something that's actually MORE important to model performance than the model itself. And that's data quality.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The question we're answering today is: How do we automatically validate whether a robotics dataset is fit for training?</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I'm going to present RoboQA-Temporal—a Python toolkit that answers exactly that question. Let's dive in.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This is RoboQA-Temporal. It's a Python toolkit that ingests rosbags—the standard file format for robotics sensor data—and runs automated checks across four dimensions.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Synchronization — Are your sensors actually synchronized? When the LiDAR fires, does the camera capture the same moment?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Anomalies — Are there ghost points, sudden density drops, or other point cloud artifacts?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Fusion Quality — If you're combining LiDAR and camera data, is the calibration drifting over time?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Health Reporting — What's the overall quality score, and which sequences should you exclude from training?</a:t>
            </a:r>
            <a:endParaRPr>
              <a:solidFill>
                <a:schemeClr val="dk1"/>
              </a:solidFill>
            </a:endParaRPr>
          </a:p>
        </p:txBody>
      </p:sp>
      <p:sp>
        <p:nvSpPr>
          <p:cNvPr id="52" name="Google Shape;5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show you why this toolkit exists."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tweet from the co-founder of OpenAI captures it perfectly. Manual inspection has the highest value-to-effort ratio in machine learning. It's unglamorous. Nobody wants to do it. But it's absolutely critical.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Here's the reality: Engineers spend 30-50% of their project time manually inspecting rosbags for quality issues. Think about that. If you're on a robotics team spending 6 months on a project, one to three months is pure manual data inspection. That's non-scalable. That's error-prone.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Everyone wants to train these sophisticated ML models. But nobody wants to manually inspect huge datasets. And yet, that inspection step is blocking progress.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Why does this matter? Because the difference between a good dataset and a bad one can be the difference between a model that works in production and one that fails silently in the field.</a:t>
            </a:r>
            <a:endParaRPr/>
          </a:p>
        </p:txBody>
      </p:sp>
      <p:sp>
        <p:nvSpPr>
          <p:cNvPr id="62" name="Google Shape;6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3027dfe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There's another issue. Existing tools are designed for single modalities—individual sensors.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PCL (Point Cloud Library), Open3D, CloudCompare—these are excellent tools. They excel at processing point clouds. They can filter, segment, and visualize 3D data beautifully.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But here's the problem: They don't assess synchronization between multiple sensors.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 real robotics systems, you ALWAYS have multiple sensors. A LiDAR. A camera. An IMU. GPS. These sensors run at different frequencies, have different hardware clocks, and different latencies.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When you combine their data, if the timestamps don't align, your downstream SLAM algorithms fail silently. Your perception models degrade without warning. Your entire pipeline breaks.</a:t>
            </a:r>
            <a:endParaRPr/>
          </a:p>
        </p:txBody>
      </p:sp>
      <p:sp>
        <p:nvSpPr>
          <p:cNvPr id="73" name="Google Shape;73;g3a3027dfe69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3027dfe6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a:ea typeface="Roboto"/>
                <a:cs typeface="Roboto"/>
                <a:sym typeface="Roboto"/>
              </a:rPr>
              <a:t>Here's the most dangerous problem: silent failures.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Subtle temporal drift between LiDAR and camera streams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Calibration drift over time (the hardware shifts slightly)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Transient occlusions (sensor faults that come and go)</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All of these can silently corrupt your downstream ML models WITHOUT explicit warnings.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NASA paper directly states: </a:t>
            </a:r>
            <a:r>
              <a:rPr i="1" lang="en-US" sz="1200">
                <a:solidFill>
                  <a:schemeClr val="dk1"/>
                </a:solidFill>
                <a:latin typeface="Roboto"/>
                <a:ea typeface="Roboto"/>
                <a:cs typeface="Roboto"/>
                <a:sym typeface="Roboto"/>
              </a:rPr>
              <a:t>'The SLAM and telemetry datasets do not have time synchronization automatically, so manual time synchronization is required.'</a:t>
            </a:r>
            <a:endParaRPr i="1"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Even NASA's automated systems couldn't detect synchronization issues. They had to do it manually.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But here's the problem: Most teams don't realize their data is unsynchronized until months later when their model fails in the field. By then, it's too late. Retraining costs time and money.</a:t>
            </a:r>
            <a:endParaRPr sz="1200">
              <a:solidFill>
                <a:schemeClr val="dk1"/>
              </a:solidFill>
              <a:latin typeface="Roboto"/>
              <a:ea typeface="Roboto"/>
              <a:cs typeface="Roboto"/>
              <a:sym typeface="Roboto"/>
            </a:endParaRPr>
          </a:p>
        </p:txBody>
      </p:sp>
      <p:sp>
        <p:nvSpPr>
          <p:cNvPr id="85" name="Google Shape;85;g3a3027dfe6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So here's what RoboQA-Temporal solves: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Scalability &amp; Automation: Instead of one person manually inspecting datasets, validation runs automatically. 71 seconds for a 1-hour dataset.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Multi-Modal Coverage: One toolkit. All your sensors. Not four different tools you have to bolt together.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Objective, Reproducible Metrics: Quality scores are quantitative, configurable, and comparable across datasets.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Integration with Existing Workflows: Native ROS support. Works with your current pipeline. Minimal setup friction.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Open-Source &amp; Community-Driven: No vendor lock-in. You own the code. The community can extend it.</a:t>
            </a:r>
            <a:endParaRPr>
              <a:solidFill>
                <a:schemeClr val="dk1"/>
              </a:solidFill>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Irreproducible results: If you validate datasets differently than I do, we can't compare our models fairly.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Wasted compute: Teams end up training on larger datasets to compensate for unknown quality issues. Idle GPUs, wasted CPU cycles.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Model poisoning: Bad data corrupts models, but the problem is hidden in the data, not the model code. It's a multi-billion-dollar problem across the industry.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industry needs standardized dataset health metrics. RoboQA-Temporal provides exactly that."</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sz="1200">
              <a:solidFill>
                <a:schemeClr val="dk1"/>
              </a:solidFill>
              <a:latin typeface="Roboto"/>
              <a:ea typeface="Roboto"/>
              <a:cs typeface="Roboto"/>
              <a:sym typeface="Roboto"/>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3027dfe6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a:ea typeface="Roboto"/>
                <a:cs typeface="Roboto"/>
                <a:sym typeface="Roboto"/>
              </a:rPr>
              <a:t>Now let me show you how we built this and why our technology choices are the right ones.</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US" sz="1200">
                <a:solidFill>
                  <a:schemeClr val="dk1"/>
                </a:solidFill>
                <a:latin typeface="Roboto"/>
                <a:ea typeface="Roboto"/>
                <a:cs typeface="Roboto"/>
                <a:sym typeface="Roboto"/>
              </a:rPr>
              <a:t>RoboQA-Temporal has four core features, and we selected one best-in-class library for each.</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didn't try to force one library to do everything. That's a rookie mistake. Instead, we selected specialized tools for each problem.</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Over the next four slides, we’re going to show you our technology choices and compare them to alternatives. Let's start with Feature 1</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110" name="Google Shape;110;g3a3027dfe69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3027dfe69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detects clock drift between sensors and measures temporal alignment quality.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rosbag + message_filters?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Look at the first row: Native ROS Support. We get a ✅. MATLAB gets a ⚠️ (it's a wrapper, not native). Custom parsing gets an ❌ (you're manually parsing binary data).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technology here is ApproximateTime policy. LiDAR fires at 10 Hz. Cameras fire at 30 Hz. Their timestamps won't align perfectly. rosbag's ApproximateTime policy automatically matches these using a configurable tolerance window—typically 100 milliseconds.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MATLAB? It's proprietary, expensive ($3,000+ per license), and requires commercial support.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custom code? Because you'd be reinventing the wheel. rosbag has been battle-tested for 10+ years in production systems at Waymo, Boston Dynamics, and thousands of robotics labs.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rosbag gets checkmarks on Native ROS, Timestamp Precision, Multi-Sensor Sync, Ease of Use, Cost, Community Support, Production Ready. It wins on all the factors that matter.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Winner: rosbag + message_filters. Let's move to Feature 2.</a:t>
            </a:r>
            <a:endParaRPr/>
          </a:p>
        </p:txBody>
      </p:sp>
      <p:sp>
        <p:nvSpPr>
          <p:cNvPr id="144" name="Google Shape;144;g3a3027dfe69_0_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3027dfe69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finds ghost points, density drops, and temporal inconsistencies in point cloud sequences.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Look at this row. This is the game-changer.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Open3D + scikit-learn: ✅ IsolationForest native.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PCL: ❌ Limited. No anomaly scoring.</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PyVista: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CloudCompare: ❌ No API for programmatic access.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What's IsolationForest? It's scikit-learn's standard algorithm for unsupervised anomaly detection. It gives us anomaly scores from 0 to 1. A ghost point (reflection, multi-path error) gets flagged automatically.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Open3D + scikit-learn together?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It's a two-in-one approach. Open3D gives us DBSCAN clustering (for grouping points by density). scikit-learn gives us IsolationForest (for scoring outliers). Together, they solve the temporal anomaly problem in Python without reinventing.</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PCL? PCL is powerful but it's C++. Python bindings are slow. You'd have to implement anomaly scoring manually in C++. Not practical.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PyVista? It's a generic 3D library, not designed for robotics temporal analysis. You'd have to add custom code for everything.</a:t>
            </a:r>
            <a:endParaRPr>
              <a:solidFill>
                <a:schemeClr val="dk1"/>
              </a:solidFill>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We get checkmarks on every criterion that matters. Winner: Open3D + scikit-learn. Feature 3.</a:t>
            </a:r>
            <a:endParaRPr/>
          </a:p>
        </p:txBody>
      </p:sp>
      <p:sp>
        <p:nvSpPr>
          <p:cNvPr id="151" name="Google Shape;151;g3a3027dfe69_0_6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3027dfe69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detects calibration drift over time and measures projection error (how accurately 3D points project onto 2D images).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selected OpenCV + NumPy + SciPy.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COLMAP? COLMAP is brilliant at 3D reconstruction from images. But that's not our problem. Our problem is simpler: monitoring whether the camera-to-LiDAR transformation matrix is drifting. COLMAP is overkill. It's like using a tank to park in a garage.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OpenGV? OpenGV specializes in relative pose estimation—computing transformation between two camera poses. That's not what we need. We need to validate an extrinsic calibration matrix and measure reprojection error.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OpenCV + NumPy + SciPy?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OpenCV is the standard for camera calibration in computer vision. It has cv2.projectPoints()—a direct API for 3D→2D projection with distortion correction. That's exactly what we need.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NumPy handles matrix operations. We compare extrinsic matrices over time using Frobenius norms to detect drift.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SciPy provides statistics. For illumination change detection, we compute KL divergence between frame histograms.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Calibration API</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OpenCV: ✅ Native calibrateCamera()</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Specialized (but for a different problem)</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OpenGV: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ROS Wrapper: ✅ But it's just a wrapper</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Projection Functions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OpenCV: ✅ projectPoints() direct API</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Internal only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the key differentiator. We need direct access to projectPoints(). OpenCV gives it to us. COLMAP keeps it internal.</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br>
              <a:rPr lang="en-US">
                <a:solidFill>
                  <a:schemeClr val="dk1"/>
                </a:solidFill>
              </a:rPr>
            </a:br>
            <a:r>
              <a:rPr lang="en-US">
                <a:solidFill>
                  <a:schemeClr val="dk1"/>
                </a:solidFill>
              </a:rPr>
              <a:t>For </a:t>
            </a:r>
            <a:r>
              <a:rPr lang="en-US" sz="1200">
                <a:solidFill>
                  <a:schemeClr val="dk1"/>
                </a:solidFill>
                <a:latin typeface="Roboto"/>
                <a:ea typeface="Roboto"/>
                <a:cs typeface="Roboto"/>
                <a:sym typeface="Roboto"/>
              </a:rPr>
              <a:t>Statistical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OpenCV + NumPy + SciPy: ✅ Native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Minimal</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OpenGV: ❌ None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Winner: OpenCV + NumPy + SciPy. Now Feature 4.</a:t>
            </a:r>
            <a:endParaRPr>
              <a:solidFill>
                <a:schemeClr val="dk1"/>
              </a:solidFill>
            </a:endParaRPr>
          </a:p>
          <a:p>
            <a:pPr indent="0" lvl="0" marL="0" rtl="0" algn="l">
              <a:spcBef>
                <a:spcPts val="600"/>
              </a:spcBef>
              <a:spcAft>
                <a:spcPts val="0"/>
              </a:spcAft>
              <a:buNone/>
            </a:pPr>
            <a:r>
              <a:t/>
            </a:r>
            <a:endParaRPr/>
          </a:p>
        </p:txBody>
      </p:sp>
      <p:sp>
        <p:nvSpPr>
          <p:cNvPr id="158" name="Google Shape;158;g3a3027dfe69_0_6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3027dfe69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generates interactive dashboards and exports metrics to JSON/CSV for CI/CD pipelines.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selected Plotly + Pandas.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Matplotlib? Matplotlib is the standard Python plotting library. But it only creates static images. For dataset exploration, you need interactivity: hover tooltips, zoom, pan, range sliders. You'd have to code every interaction manually. That's a lot of work.</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Seaborn? Seaborn is designed for statistical visualization—bar charts, distributions. It's not built for time-series reporting. Different tool, different problem.</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Streamlit? Here's the kicker: Streamlit REQUIRES a running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Imagine you're running a CI/CD pipeline. You validate a dataset. You generate a quality report. Where does it go?</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With Streamlit, you'd need to spin up a server instance. That's infrastructure overhead. Cost. Complexity. And it doesn't work in batch processing pipelines, which is what robotics labs need.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Plotly + Pandas?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Plotly generates self-contained HTML dashboards. One file. Everything embedded. No server needed. You email it to your team. You store it in S3. You put it in a CI/CD artifact folder. It just works.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[Point to the comparison table]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Interactive Time-Series: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Built-in (hover, zoom, pan, range sliders)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Static plots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Full (but requires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Self-contained HTML:</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Yes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Requires custom code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Requires app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CI/CD Integration:</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Standalone HTML (perfect for batch)</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Requires rendering</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Server needed (not suitable for batch)</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See the pattern? Plotly wins on everything that matters for our use case.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Pandas handles the data: CSV export is one line of code. JSON serialization is trivial.</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t>For Deployment:</a:t>
            </a:r>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Plotly: ✅ Self-contained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Files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Files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Requires app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Winner: Plotly + Pandas.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65" name="Google Shape;165;g3a3027dfe69_0_6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027dfe69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Those are our four technology choices. Native ROS tools. Two-in-one approach. Industry standard. Self-contained infrastructure.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show you the summary.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1: rosbag + message_filters — Native ROS, no learning curve, production-proven.</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MATLAB ($$$), Custom Parser.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2: Open3D + scikit-learn — DBSCAN + IsolationForest, GPU support.</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PCL (C++ overhead), PyVista (generic).</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3: OpenCV + NumPy + SciPy — Native calibration + projection APIs.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COLMAP (reconstruction-focused), OpenGV (pose-only).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4: Plotly + Pandas — Interactive dashboards + CSV/JSON export.</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Matplotlib (static), Streamlit (server-required).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theme across all four choices: We selected libraries that are already standard in their domains. Every roboticist knows rosbag. Every ML engineer uses scikit-learn. Every computer vision researcher uses OpenCV. Every data scientist uses Pandas.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means adoption friction is zero. Engineers don't need to learn new tools. They use familiar libraries in a new combination.</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And notice: we win on every metric. Native integration, zero licensing, production-ready, GPU-optional support.</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72" name="Google Shape;172;g3a3027dfe69_0_6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3027dfe69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Thank you for your attention. I'm happy to take any questions.</a:t>
            </a:r>
            <a:endParaRPr/>
          </a:p>
        </p:txBody>
      </p:sp>
      <p:sp>
        <p:nvSpPr>
          <p:cNvPr id="178" name="Google Shape;178;g3a3027dfe69_0_6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2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7.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undless">
  <p:cSld name="2_Title Slide">
    <p:bg>
      <p:bgPr>
        <a:solidFill>
          <a:schemeClr val="dk1"/>
        </a:solidFill>
      </p:bgPr>
    </p:bg>
    <p:spTree>
      <p:nvGrpSpPr>
        <p:cNvPr id="6" name="Shape 6"/>
        <p:cNvGrpSpPr/>
        <p:nvPr/>
      </p:nvGrpSpPr>
      <p:grpSpPr>
        <a:xfrm>
          <a:off x="0" y="0"/>
          <a:ext cx="0" cy="0"/>
          <a:chOff x="0" y="0"/>
          <a:chExt cx="0" cy="0"/>
        </a:xfrm>
      </p:grpSpPr>
      <p:pic>
        <p:nvPicPr>
          <p:cNvPr descr="UW_W Logo_White.png" id="7" name="Google Shape;7;p2"/>
          <p:cNvPicPr preferRelativeResize="0"/>
          <p:nvPr/>
        </p:nvPicPr>
        <p:blipFill rotWithShape="1">
          <a:blip r:embed="rId2">
            <a:alphaModFix/>
          </a:blip>
          <a:srcRect b="0" l="0" r="0" t="0"/>
          <a:stretch/>
        </p:blipFill>
        <p:spPr>
          <a:xfrm>
            <a:off x="7483915" y="4219956"/>
            <a:ext cx="1371600" cy="923544"/>
          </a:xfrm>
          <a:prstGeom prst="rect">
            <a:avLst/>
          </a:prstGeom>
          <a:noFill/>
          <a:ln>
            <a:noFill/>
          </a:ln>
        </p:spPr>
      </p:pic>
      <p:pic>
        <p:nvPicPr>
          <p:cNvPr id="8" name="Google Shape;8;p2"/>
          <p:cNvPicPr preferRelativeResize="0"/>
          <p:nvPr/>
        </p:nvPicPr>
        <p:blipFill rotWithShape="1">
          <a:blip r:embed="rId3">
            <a:alphaModFix/>
          </a:blip>
          <a:srcRect b="0" l="0" r="0" t="0"/>
          <a:stretch/>
        </p:blipFill>
        <p:spPr>
          <a:xfrm>
            <a:off x="568081" y="4598607"/>
            <a:ext cx="2416273" cy="213486"/>
          </a:xfrm>
          <a:prstGeom prst="rect">
            <a:avLst/>
          </a:prstGeom>
          <a:noFill/>
          <a:ln>
            <a:noFill/>
          </a:ln>
        </p:spPr>
      </p:pic>
      <p:pic>
        <p:nvPicPr>
          <p:cNvPr id="9" name="Google Shape;9;p2"/>
          <p:cNvPicPr preferRelativeResize="0"/>
          <p:nvPr/>
        </p:nvPicPr>
        <p:blipFill rotWithShape="1">
          <a:blip r:embed="rId4">
            <a:alphaModFix/>
          </a:blip>
          <a:srcRect b="0" l="0" r="0" t="0"/>
          <a:stretch/>
        </p:blipFill>
        <p:spPr>
          <a:xfrm>
            <a:off x="568081" y="3426449"/>
            <a:ext cx="1600200" cy="139700"/>
          </a:xfrm>
          <a:prstGeom prst="rect">
            <a:avLst/>
          </a:prstGeom>
          <a:noFill/>
          <a:ln>
            <a:noFill/>
          </a:ln>
        </p:spPr>
      </p:pic>
      <p:sp>
        <p:nvSpPr>
          <p:cNvPr id="10" name="Google Shape;10;p2"/>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11" name="Shape 11"/>
        <p:cNvGrpSpPr/>
        <p:nvPr/>
      </p:nvGrpSpPr>
      <p:grpSpPr>
        <a:xfrm>
          <a:off x="0" y="0"/>
          <a:ext cx="0" cy="0"/>
          <a:chOff x="0" y="0"/>
          <a:chExt cx="0" cy="0"/>
        </a:xfrm>
      </p:grpSpPr>
      <p:sp>
        <p:nvSpPr>
          <p:cNvPr id="12" name="Google Shape;12;p3"/>
          <p:cNvSpPr txBox="1"/>
          <p:nvPr>
            <p:ph idx="1"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13" name="Google Shape;13;p3"/>
          <p:cNvSpPr txBox="1"/>
          <p:nvPr>
            <p:ph idx="2"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lt2"/>
              </a:buClr>
              <a:buSzPts val="2400"/>
              <a:buFont typeface="Open Sans"/>
              <a:buNone/>
              <a:defRPr i="0" sz="2400" u="none" cap="none" strike="noStrike">
                <a:solidFill>
                  <a:schemeClr val="lt2"/>
                </a:solidFill>
                <a:latin typeface="Open Sans"/>
                <a:ea typeface="Open Sans"/>
                <a:cs typeface="Open Sans"/>
                <a:sym typeface="Open Sans"/>
              </a:defRPr>
            </a:lvl1pPr>
            <a:lvl2pPr indent="-228600" lvl="1" marL="914400" marR="0" rtl="0" algn="l">
              <a:spcBef>
                <a:spcPts val="560"/>
              </a:spcBef>
              <a:spcAft>
                <a:spcPts val="0"/>
              </a:spcAft>
              <a:buClr>
                <a:srgbClr val="E8D3A2"/>
              </a:buClr>
              <a:buSzPts val="2800"/>
              <a:buFont typeface="Open Sans"/>
              <a:buNone/>
              <a:defRPr i="0" sz="2800" u="none" cap="none" strike="noStrike">
                <a:solidFill>
                  <a:srgbClr val="E8D3A2"/>
                </a:solidFill>
                <a:latin typeface="Open Sans"/>
                <a:ea typeface="Open Sans"/>
                <a:cs typeface="Open Sans"/>
                <a:sym typeface="Open Sans"/>
              </a:defRPr>
            </a:lvl2pPr>
            <a:lvl3pPr indent="-228600" lvl="2" marL="1371600" marR="0" rtl="0" algn="l">
              <a:spcBef>
                <a:spcPts val="480"/>
              </a:spcBef>
              <a:spcAft>
                <a:spcPts val="0"/>
              </a:spcAft>
              <a:buClr>
                <a:srgbClr val="E8D3A2"/>
              </a:buClr>
              <a:buSzPts val="2400"/>
              <a:buFont typeface="Open Sans"/>
              <a:buNone/>
              <a:defRPr i="0" sz="2400" u="none" cap="none" strike="noStrike">
                <a:solidFill>
                  <a:srgbClr val="E8D3A2"/>
                </a:solidFill>
                <a:latin typeface="Open Sans"/>
                <a:ea typeface="Open Sans"/>
                <a:cs typeface="Open Sans"/>
                <a:sym typeface="Open Sans"/>
              </a:defRPr>
            </a:lvl3pPr>
            <a:lvl4pPr indent="-228600" lvl="3" marL="18288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4pPr>
            <a:lvl5pPr indent="-228600" lvl="4" marL="22860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6pPr>
            <a:lvl7pPr indent="-355600" lvl="6" marL="32004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7pPr>
            <a:lvl8pPr indent="-355600" lvl="7" marL="36576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8pPr>
            <a:lvl9pPr indent="-355600" lvl="8" marL="41148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9pPr>
          </a:lstStyle>
          <a:p/>
        </p:txBody>
      </p:sp>
      <p:pic>
        <p:nvPicPr>
          <p:cNvPr id="14" name="Google Shape;14;p3"/>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id="15" name="Google Shape;15;p3"/>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
        <p:nvSpPr>
          <p:cNvPr id="16" name="Google Shape;16;p3"/>
          <p:cNvSpPr txBox="1"/>
          <p:nvPr>
            <p:ph type="title"/>
          </p:nvPr>
        </p:nvSpPr>
        <p:spPr>
          <a:xfrm>
            <a:off x="447923" y="371510"/>
            <a:ext cx="8197114"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UW">
  <p:cSld name="1_Title Slide">
    <p:bg>
      <p:bgPr>
        <a:solidFill>
          <a:schemeClr val="dk1"/>
        </a:solidFill>
      </p:bgPr>
    </p:bg>
    <p:spTree>
      <p:nvGrpSpPr>
        <p:cNvPr id="17" name="Shape 17"/>
        <p:cNvGrpSpPr/>
        <p:nvPr/>
      </p:nvGrpSpPr>
      <p:grpSpPr>
        <a:xfrm>
          <a:off x="0" y="0"/>
          <a:ext cx="0" cy="0"/>
          <a:chOff x="0" y="0"/>
          <a:chExt cx="0" cy="0"/>
        </a:xfrm>
      </p:grpSpPr>
      <p:pic>
        <p:nvPicPr>
          <p:cNvPr descr="UW_W Logo_White.png" id="18" name="Google Shape;18;p4"/>
          <p:cNvPicPr preferRelativeResize="0"/>
          <p:nvPr/>
        </p:nvPicPr>
        <p:blipFill rotWithShape="1">
          <a:blip r:embed="rId2">
            <a:alphaModFix/>
          </a:blip>
          <a:srcRect b="0" l="0" r="0" t="0"/>
          <a:stretch/>
        </p:blipFill>
        <p:spPr>
          <a:xfrm>
            <a:off x="7483915" y="4219956"/>
            <a:ext cx="1371600" cy="923544"/>
          </a:xfrm>
          <a:prstGeom prst="rect">
            <a:avLst/>
          </a:prstGeom>
          <a:noFill/>
          <a:ln>
            <a:noFill/>
          </a:ln>
        </p:spPr>
      </p:pic>
      <p:pic>
        <p:nvPicPr>
          <p:cNvPr id="19" name="Google Shape;19;p4"/>
          <p:cNvPicPr preferRelativeResize="0"/>
          <p:nvPr/>
        </p:nvPicPr>
        <p:blipFill rotWithShape="1">
          <a:blip r:embed="rId3">
            <a:alphaModFix/>
          </a:blip>
          <a:srcRect b="0" l="0" r="0" t="0"/>
          <a:stretch/>
        </p:blipFill>
        <p:spPr>
          <a:xfrm>
            <a:off x="568081" y="4675530"/>
            <a:ext cx="2540000" cy="172311"/>
          </a:xfrm>
          <a:prstGeom prst="rect">
            <a:avLst/>
          </a:prstGeom>
          <a:noFill/>
          <a:ln>
            <a:noFill/>
          </a:ln>
        </p:spPr>
      </p:pic>
      <p:pic>
        <p:nvPicPr>
          <p:cNvPr id="20" name="Google Shape;20;p4"/>
          <p:cNvPicPr preferRelativeResize="0"/>
          <p:nvPr/>
        </p:nvPicPr>
        <p:blipFill rotWithShape="1">
          <a:blip r:embed="rId4">
            <a:alphaModFix/>
          </a:blip>
          <a:srcRect b="0" l="0" r="0" t="0"/>
          <a:stretch/>
        </p:blipFill>
        <p:spPr>
          <a:xfrm>
            <a:off x="568081" y="3426449"/>
            <a:ext cx="1600200" cy="139700"/>
          </a:xfrm>
          <a:prstGeom prst="rect">
            <a:avLst/>
          </a:prstGeom>
          <a:noFill/>
          <a:ln>
            <a:noFill/>
          </a:ln>
        </p:spPr>
      </p:pic>
      <p:sp>
        <p:nvSpPr>
          <p:cNvPr id="21" name="Google Shape;21;p4"/>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bg>
      <p:bgPr>
        <a:solidFill>
          <a:schemeClr val="dk1"/>
        </a:solidFill>
      </p:bgPr>
    </p:bg>
    <p:spTree>
      <p:nvGrpSpPr>
        <p:cNvPr id="22" name="Shape 22"/>
        <p:cNvGrpSpPr/>
        <p:nvPr/>
      </p:nvGrpSpPr>
      <p:grpSpPr>
        <a:xfrm>
          <a:off x="0" y="0"/>
          <a:ext cx="0" cy="0"/>
          <a:chOff x="0" y="0"/>
          <a:chExt cx="0" cy="0"/>
        </a:xfrm>
      </p:grpSpPr>
      <p:sp>
        <p:nvSpPr>
          <p:cNvPr id="23" name="Google Shape;23;p5"/>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24" name="Google Shape;24;p5"/>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descr="UW_W Logo_White.png" id="25" name="Google Shape;25;p5"/>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
        <p:nvSpPr>
          <p:cNvPr id="26" name="Google Shape;26;p5"/>
          <p:cNvSpPr txBox="1"/>
          <p:nvPr>
            <p:ph type="title"/>
          </p:nvPr>
        </p:nvSpPr>
        <p:spPr>
          <a:xfrm>
            <a:off x="447923" y="369733"/>
            <a:ext cx="8197114"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b="0" l="0" r="0" t="0"/>
          <a:stretch/>
        </p:blipFill>
        <p:spPr>
          <a:xfrm>
            <a:off x="555381" y="1364403"/>
            <a:ext cx="1103781" cy="96361"/>
          </a:xfrm>
          <a:prstGeom prst="rect">
            <a:avLst/>
          </a:prstGeom>
          <a:noFill/>
          <a:ln>
            <a:noFill/>
          </a:ln>
        </p:spPr>
      </p:pic>
      <p:pic>
        <p:nvPicPr>
          <p:cNvPr id="30" name="Google Shape;30;p7"/>
          <p:cNvPicPr preferRelativeResize="0"/>
          <p:nvPr/>
        </p:nvPicPr>
        <p:blipFill rotWithShape="1">
          <a:blip r:embed="rId3">
            <a:alphaModFix/>
          </a:blip>
          <a:srcRect b="0" l="0" r="0" t="0"/>
          <a:stretch/>
        </p:blipFill>
        <p:spPr>
          <a:xfrm>
            <a:off x="549031" y="1363508"/>
            <a:ext cx="1103781" cy="96362"/>
          </a:xfrm>
          <a:prstGeom prst="rect">
            <a:avLst/>
          </a:prstGeom>
          <a:noFill/>
          <a:ln>
            <a:noFill/>
          </a:ln>
        </p:spPr>
      </p:pic>
      <p:sp>
        <p:nvSpPr>
          <p:cNvPr id="31" name="Google Shape;31;p7"/>
          <p:cNvSpPr txBox="1"/>
          <p:nvPr>
            <p:ph idx="1"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2" name="Google Shape;32;p7"/>
          <p:cNvSpPr txBox="1"/>
          <p:nvPr>
            <p:ph idx="2"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dk2"/>
              </a:buClr>
              <a:buSzPts val="2400"/>
              <a:buFont typeface="Open Sans"/>
              <a:buNone/>
              <a:defRPr i="0" sz="2400" u="none" cap="none" strike="noStrike">
                <a:solidFill>
                  <a:schemeClr val="dk2"/>
                </a:solidFill>
                <a:latin typeface="Open Sans"/>
                <a:ea typeface="Open Sans"/>
                <a:cs typeface="Open Sans"/>
                <a:sym typeface="Open Sans"/>
              </a:defRPr>
            </a:lvl1pPr>
            <a:lvl2pPr indent="-228600" lvl="1" marL="914400" marR="0" rtl="0" algn="l">
              <a:spcBef>
                <a:spcPts val="560"/>
              </a:spcBef>
              <a:spcAft>
                <a:spcPts val="0"/>
              </a:spcAft>
              <a:buClr>
                <a:srgbClr val="E8D3A2"/>
              </a:buClr>
              <a:buSzPts val="2800"/>
              <a:buFont typeface="Open Sans"/>
              <a:buNone/>
              <a:defRPr i="0" sz="2800" u="none" cap="none" strike="noStrike">
                <a:solidFill>
                  <a:srgbClr val="E8D3A2"/>
                </a:solidFill>
                <a:latin typeface="Open Sans"/>
                <a:ea typeface="Open Sans"/>
                <a:cs typeface="Open Sans"/>
                <a:sym typeface="Open Sans"/>
              </a:defRPr>
            </a:lvl2pPr>
            <a:lvl3pPr indent="-228600" lvl="2" marL="1371600" marR="0" rtl="0" algn="l">
              <a:spcBef>
                <a:spcPts val="480"/>
              </a:spcBef>
              <a:spcAft>
                <a:spcPts val="0"/>
              </a:spcAft>
              <a:buClr>
                <a:srgbClr val="E8D3A2"/>
              </a:buClr>
              <a:buSzPts val="2400"/>
              <a:buFont typeface="Open Sans"/>
              <a:buNone/>
              <a:defRPr i="0" sz="2400" u="none" cap="none" strike="noStrike">
                <a:solidFill>
                  <a:srgbClr val="E8D3A2"/>
                </a:solidFill>
                <a:latin typeface="Open Sans"/>
                <a:ea typeface="Open Sans"/>
                <a:cs typeface="Open Sans"/>
                <a:sym typeface="Open Sans"/>
              </a:defRPr>
            </a:lvl3pPr>
            <a:lvl4pPr indent="-228600" lvl="3" marL="18288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4pPr>
            <a:lvl5pPr indent="-228600" lvl="4" marL="22860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6pPr>
            <a:lvl7pPr indent="-355600" lvl="6" marL="32004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7pPr>
            <a:lvl8pPr indent="-355600" lvl="7" marL="36576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8pPr>
            <a:lvl9pPr indent="-355600" lvl="8" marL="41148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9pPr>
          </a:lstStyle>
          <a:p/>
        </p:txBody>
      </p:sp>
      <p:pic>
        <p:nvPicPr>
          <p:cNvPr id="33" name="Google Shape;33;p7"/>
          <p:cNvPicPr preferRelativeResize="0"/>
          <p:nvPr/>
        </p:nvPicPr>
        <p:blipFill rotWithShape="1">
          <a:blip r:embed="rId4">
            <a:alphaModFix/>
          </a:blip>
          <a:srcRect b="0" l="0" r="0" t="0"/>
          <a:stretch/>
        </p:blipFill>
        <p:spPr>
          <a:xfrm>
            <a:off x="6105041" y="4675530"/>
            <a:ext cx="2539991" cy="172311"/>
          </a:xfrm>
          <a:prstGeom prst="rect">
            <a:avLst/>
          </a:prstGeom>
          <a:noFill/>
          <a:ln>
            <a:noFill/>
          </a:ln>
        </p:spPr>
      </p:pic>
      <p:sp>
        <p:nvSpPr>
          <p:cNvPr id="34" name="Google Shape;34;p7"/>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undless">
  <p:cSld name="1_Title Slide">
    <p:spTree>
      <p:nvGrpSpPr>
        <p:cNvPr id="35"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37" name="Google Shape;37;p8"/>
          <p:cNvPicPr preferRelativeResize="0"/>
          <p:nvPr/>
        </p:nvPicPr>
        <p:blipFill rotWithShape="1">
          <a:blip r:embed="rId3">
            <a:alphaModFix/>
          </a:blip>
          <a:srcRect b="0" l="0" r="0" t="0"/>
          <a:stretch/>
        </p:blipFill>
        <p:spPr>
          <a:xfrm>
            <a:off x="568081" y="4599009"/>
            <a:ext cx="2425226" cy="213273"/>
          </a:xfrm>
          <a:prstGeom prst="rect">
            <a:avLst/>
          </a:prstGeom>
          <a:noFill/>
          <a:ln>
            <a:noFill/>
          </a:ln>
        </p:spPr>
      </p:pic>
      <p:pic>
        <p:nvPicPr>
          <p:cNvPr descr="W Logo_Purple_2685_HEX.png" id="38" name="Google Shape;38;p8"/>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
        <p:nvSpPr>
          <p:cNvPr id="39" name="Google Shape;39;p8"/>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UW">
  <p:cSld name="Title Slide">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descr="W Logo_Purple_2685_HEX.png" id="42" name="Google Shape;42;p9"/>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pic>
        <p:nvPicPr>
          <p:cNvPr id="43" name="Google Shape;43;p9"/>
          <p:cNvPicPr preferRelativeResize="0"/>
          <p:nvPr/>
        </p:nvPicPr>
        <p:blipFill rotWithShape="1">
          <a:blip r:embed="rId4">
            <a:alphaModFix/>
          </a:blip>
          <a:srcRect b="0" l="0" r="0" t="0"/>
          <a:stretch/>
        </p:blipFill>
        <p:spPr>
          <a:xfrm>
            <a:off x="568085" y="4675530"/>
            <a:ext cx="2539991" cy="172311"/>
          </a:xfrm>
          <a:prstGeom prst="rect">
            <a:avLst/>
          </a:prstGeom>
          <a:noFill/>
          <a:ln>
            <a:noFill/>
          </a:ln>
        </p:spPr>
      </p:pic>
      <p:sp>
        <p:nvSpPr>
          <p:cNvPr id="44" name="Google Shape;44;p9"/>
          <p:cNvSpPr txBox="1"/>
          <p:nvPr>
            <p:ph type="title"/>
          </p:nvPr>
        </p:nvSpPr>
        <p:spPr>
          <a:xfrm>
            <a:off x="460376"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spTree>
      <p:nvGrpSpPr>
        <p:cNvPr id="45" name="Shape 45"/>
        <p:cNvGrpSpPr/>
        <p:nvPr/>
      </p:nvGrpSpPr>
      <p:grpSpPr>
        <a:xfrm>
          <a:off x="0" y="0"/>
          <a:ext cx="0" cy="0"/>
          <a:chOff x="0" y="0"/>
          <a:chExt cx="0" cy="0"/>
        </a:xfrm>
      </p:grpSpPr>
      <p:pic>
        <p:nvPicPr>
          <p:cNvPr id="46" name="Google Shape;46;p10"/>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descr="W Logo_Purple_2685_HEX.png" id="47" name="Google Shape;47;p10"/>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
        <p:nvSpPr>
          <p:cNvPr id="48" name="Google Shape;48;p10"/>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9" name="Google Shape;49;p10"/>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mc:AlternateContent>
    <mc:Choice Requires="p14">
      <p:transition spd="slow" p14:dur="25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 name="Shape 2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Lst>
  <mc:AlternateContent>
    <mc:Choice Requires="p14">
      <p:transition spd="slow" p14:dur="25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1"/>
          <p:cNvSpPr txBox="1"/>
          <p:nvPr>
            <p:ph type="title"/>
          </p:nvPr>
        </p:nvSpPr>
        <p:spPr>
          <a:xfrm>
            <a:off x="460375" y="645000"/>
            <a:ext cx="6384900" cy="2641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5000"/>
              <a:buFont typeface="Encode Sans Black"/>
              <a:buNone/>
            </a:pPr>
            <a:r>
              <a:rPr lang="en-US"/>
              <a:t>RoboQA-Temporal</a:t>
            </a:r>
            <a:endParaRPr/>
          </a:p>
          <a:p>
            <a:pPr indent="0" lvl="0" marL="0" rtl="0" algn="l">
              <a:spcBef>
                <a:spcPts val="0"/>
              </a:spcBef>
              <a:spcAft>
                <a:spcPts val="0"/>
              </a:spcAft>
              <a:buClr>
                <a:schemeClr val="lt2"/>
              </a:buClr>
              <a:buSzPts val="5000"/>
              <a:buFont typeface="Encode Sans Black"/>
              <a:buNone/>
            </a:pPr>
            <a:r>
              <a:t/>
            </a:r>
            <a:endParaRPr sz="1600"/>
          </a:p>
          <a:p>
            <a:pPr indent="0" lvl="0" marL="0" rtl="0" algn="l">
              <a:spcBef>
                <a:spcPts val="0"/>
              </a:spcBef>
              <a:spcAft>
                <a:spcPts val="0"/>
              </a:spcAft>
              <a:buClr>
                <a:schemeClr val="lt2"/>
              </a:buClr>
              <a:buSzPts val="5000"/>
              <a:buFont typeface="Encode Sans Black"/>
              <a:buNone/>
            </a:pPr>
            <a:r>
              <a:rPr b="0" lang="en-US" sz="1800">
                <a:latin typeface="Encode Sans"/>
                <a:ea typeface="Encode Sans"/>
                <a:cs typeface="Encode Sans"/>
                <a:sym typeface="Encode Sans"/>
              </a:rPr>
              <a:t>It is a Python toolkit that ingests rosbags &amp; runs </a:t>
            </a:r>
            <a:endParaRPr b="0" sz="1800">
              <a:latin typeface="Encode Sans"/>
              <a:ea typeface="Encode Sans"/>
              <a:cs typeface="Encode Sans"/>
              <a:sym typeface="Encode Sans"/>
            </a:endParaRPr>
          </a:p>
          <a:p>
            <a:pPr indent="0" lvl="0" marL="0" rtl="0" algn="l">
              <a:spcBef>
                <a:spcPts val="0"/>
              </a:spcBef>
              <a:spcAft>
                <a:spcPts val="0"/>
              </a:spcAft>
              <a:buClr>
                <a:schemeClr val="lt2"/>
              </a:buClr>
              <a:buSzPts val="5000"/>
              <a:buFont typeface="Encode Sans Black"/>
              <a:buNone/>
            </a:pPr>
            <a:r>
              <a:rPr b="0" lang="en-US" sz="1800">
                <a:latin typeface="Encode Sans"/>
                <a:ea typeface="Encode Sans"/>
                <a:cs typeface="Encode Sans"/>
                <a:sym typeface="Encode Sans"/>
              </a:rPr>
              <a:t>automated checks across four dimensions:</a:t>
            </a:r>
            <a:endParaRPr b="0" sz="1800">
              <a:latin typeface="Encode Sans"/>
              <a:ea typeface="Encode Sans"/>
              <a:cs typeface="Encode Sans"/>
              <a:sym typeface="Encode Sans"/>
            </a:endParaRPr>
          </a:p>
          <a:p>
            <a:pPr indent="0" lvl="0" marL="0" rtl="0" algn="l">
              <a:spcBef>
                <a:spcPts val="0"/>
              </a:spcBef>
              <a:spcAft>
                <a:spcPts val="0"/>
              </a:spcAft>
              <a:buClr>
                <a:schemeClr val="lt2"/>
              </a:buClr>
              <a:buSzPts val="5000"/>
              <a:buFont typeface="Encode Sans Black"/>
              <a:buNone/>
            </a:pPr>
            <a:r>
              <a:t/>
            </a:r>
            <a:endParaRPr sz="1800"/>
          </a:p>
          <a:p>
            <a:pPr indent="0" lvl="0" marL="0" rtl="0" algn="l">
              <a:spcBef>
                <a:spcPts val="0"/>
              </a:spcBef>
              <a:spcAft>
                <a:spcPts val="0"/>
              </a:spcAft>
              <a:buClr>
                <a:schemeClr val="lt2"/>
              </a:buClr>
              <a:buSzPts val="5000"/>
              <a:buFont typeface="Encode Sans Black"/>
              <a:buNone/>
            </a:pPr>
            <a:r>
              <a:rPr lang="en-US" sz="1800">
                <a:solidFill>
                  <a:schemeClr val="accent2"/>
                </a:solidFill>
              </a:rPr>
              <a:t>| Synchronization | Anomalies | </a:t>
            </a:r>
            <a:endParaRPr sz="1800">
              <a:solidFill>
                <a:schemeClr val="accent2"/>
              </a:solidFill>
            </a:endParaRPr>
          </a:p>
          <a:p>
            <a:pPr indent="0" lvl="0" marL="0" rtl="0" algn="l">
              <a:spcBef>
                <a:spcPts val="0"/>
              </a:spcBef>
              <a:spcAft>
                <a:spcPts val="0"/>
              </a:spcAft>
              <a:buClr>
                <a:schemeClr val="lt2"/>
              </a:buClr>
              <a:buSzPts val="5000"/>
              <a:buFont typeface="Encode Sans Black"/>
              <a:buNone/>
            </a:pPr>
            <a:r>
              <a:t/>
            </a:r>
            <a:endParaRPr sz="700">
              <a:solidFill>
                <a:schemeClr val="accent2"/>
              </a:solidFill>
            </a:endParaRPr>
          </a:p>
          <a:p>
            <a:pPr indent="0" lvl="0" marL="0" rtl="0" algn="l">
              <a:spcBef>
                <a:spcPts val="0"/>
              </a:spcBef>
              <a:spcAft>
                <a:spcPts val="0"/>
              </a:spcAft>
              <a:buClr>
                <a:schemeClr val="lt2"/>
              </a:buClr>
              <a:buSzPts val="5000"/>
              <a:buFont typeface="Encode Sans Black"/>
              <a:buNone/>
            </a:pPr>
            <a:r>
              <a:rPr lang="en-US" sz="1800">
                <a:solidFill>
                  <a:schemeClr val="accent2"/>
                </a:solidFill>
              </a:rPr>
              <a:t>| Fusion Quality | Health Reporting |</a:t>
            </a:r>
            <a:endParaRPr sz="1800">
              <a:solidFill>
                <a:schemeClr val="accent2"/>
              </a:solidFill>
            </a:endParaRPr>
          </a:p>
        </p:txBody>
      </p:sp>
      <p:pic>
        <p:nvPicPr>
          <p:cNvPr id="55" name="Google Shape;55;p11"/>
          <p:cNvPicPr preferRelativeResize="0"/>
          <p:nvPr/>
        </p:nvPicPr>
        <p:blipFill>
          <a:blip r:embed="rId3">
            <a:alphaModFix/>
          </a:blip>
          <a:stretch>
            <a:fillRect/>
          </a:stretch>
        </p:blipFill>
        <p:spPr>
          <a:xfrm>
            <a:off x="6352000" y="2108550"/>
            <a:ext cx="2606100" cy="1773000"/>
          </a:xfrm>
          <a:prstGeom prst="roundRect">
            <a:avLst>
              <a:gd fmla="val 6042" name="adj"/>
            </a:avLst>
          </a:prstGeom>
          <a:noFill/>
          <a:ln>
            <a:noFill/>
          </a:ln>
          <a:effectLst>
            <a:outerShdw blurRad="57150" rotWithShape="0" algn="bl" dir="5400000" dist="19050">
              <a:srgbClr val="000000">
                <a:alpha val="50000"/>
              </a:srgbClr>
            </a:outerShdw>
          </a:effectLst>
        </p:spPr>
      </p:pic>
      <p:pic>
        <p:nvPicPr>
          <p:cNvPr id="56" name="Google Shape;56;p11"/>
          <p:cNvPicPr preferRelativeResize="0"/>
          <p:nvPr/>
        </p:nvPicPr>
        <p:blipFill>
          <a:blip r:embed="rId4">
            <a:alphaModFix/>
          </a:blip>
          <a:stretch>
            <a:fillRect/>
          </a:stretch>
        </p:blipFill>
        <p:spPr>
          <a:xfrm>
            <a:off x="7165300" y="281850"/>
            <a:ext cx="1792800" cy="1575300"/>
          </a:xfrm>
          <a:prstGeom prst="roundRect">
            <a:avLst>
              <a:gd fmla="val 7746" name="adj"/>
            </a:avLst>
          </a:prstGeom>
          <a:noFill/>
          <a:ln>
            <a:noFill/>
          </a:ln>
        </p:spPr>
      </p:pic>
      <p:pic>
        <p:nvPicPr>
          <p:cNvPr id="57" name="Google Shape;57;p11"/>
          <p:cNvPicPr preferRelativeResize="0"/>
          <p:nvPr/>
        </p:nvPicPr>
        <p:blipFill rotWithShape="1">
          <a:blip r:embed="rId5">
            <a:alphaModFix/>
          </a:blip>
          <a:srcRect b="3658" l="5407" r="5939" t="14306"/>
          <a:stretch/>
        </p:blipFill>
        <p:spPr>
          <a:xfrm>
            <a:off x="3802075" y="3472750"/>
            <a:ext cx="2276100" cy="1490400"/>
          </a:xfrm>
          <a:prstGeom prst="roundRect">
            <a:avLst>
              <a:gd fmla="val 7130" name="adj"/>
            </a:avLst>
          </a:prstGeom>
          <a:noFill/>
          <a:ln>
            <a:noFill/>
          </a:ln>
        </p:spPr>
      </p:pic>
      <p:sp>
        <p:nvSpPr>
          <p:cNvPr id="58" name="Google Shape;58;p11"/>
          <p:cNvSpPr txBox="1"/>
          <p:nvPr/>
        </p:nvSpPr>
        <p:spPr>
          <a:xfrm>
            <a:off x="460381" y="269274"/>
            <a:ext cx="588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solidFill>
                  <a:schemeClr val="lt2"/>
                </a:solidFill>
                <a:latin typeface="Roboto"/>
                <a:ea typeface="Roboto"/>
                <a:cs typeface="Roboto"/>
                <a:sym typeface="Roboto"/>
              </a:rPr>
              <a:t>"Data quality, not model size, is the primary lever for improving ML performance."</a:t>
            </a:r>
            <a:r>
              <a:rPr lang="en-US" sz="1000">
                <a:solidFill>
                  <a:schemeClr val="lt2"/>
                </a:solidFill>
                <a:latin typeface="Roboto"/>
                <a:ea typeface="Roboto"/>
                <a:cs typeface="Roboto"/>
                <a:sym typeface="Roboto"/>
              </a:rPr>
              <a:t> — Ratner et al., 2016.</a:t>
            </a:r>
            <a:endParaRPr sz="1000">
              <a:solidFill>
                <a:schemeClr val="lt2"/>
              </a:solidFill>
            </a:endParaRPr>
          </a:p>
        </p:txBody>
      </p:sp>
      <p:sp>
        <p:nvSpPr>
          <p:cNvPr id="59" name="Google Shape;59;p11"/>
          <p:cNvSpPr txBox="1"/>
          <p:nvPr/>
        </p:nvSpPr>
        <p:spPr>
          <a:xfrm>
            <a:off x="166050" y="4493850"/>
            <a:ext cx="31653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accent3"/>
                </a:solidFill>
              </a:rPr>
              <a:t>      </a:t>
            </a:r>
            <a:r>
              <a:rPr b="1" lang="en-US">
                <a:solidFill>
                  <a:schemeClr val="accent3"/>
                </a:solidFill>
                <a:latin typeface="Encode Sans"/>
                <a:ea typeface="Encode Sans"/>
                <a:cs typeface="Encode Sans"/>
                <a:sym typeface="Encode Sans"/>
              </a:rPr>
              <a:t>TECH-REVIEW</a:t>
            </a:r>
            <a:endParaRPr b="1">
              <a:solidFill>
                <a:schemeClr val="accent3"/>
              </a:solidFill>
              <a:latin typeface="Encode Sans"/>
              <a:ea typeface="Encode Sans"/>
              <a:cs typeface="Encode Sans"/>
              <a:sym typeface="Encode Sans"/>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2"/>
          <p:cNvSpPr txBox="1"/>
          <p:nvPr>
            <p:ph idx="1" type="body"/>
          </p:nvPr>
        </p:nvSpPr>
        <p:spPr>
          <a:xfrm>
            <a:off x="447925" y="2058250"/>
            <a:ext cx="43098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t>Engineers spend 30-50% of project time manually inspecting rosbags for quality issues, a non-scalable, error-prone process.</a:t>
            </a:r>
            <a:endParaRPr b="0" sz="2000"/>
          </a:p>
        </p:txBody>
      </p:sp>
      <p:sp>
        <p:nvSpPr>
          <p:cNvPr id="65" name="Google Shape;65;p12"/>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t>Manual Inspection Bottleneck:</a:t>
            </a:r>
            <a:endParaRPr b="1" sz="2000"/>
          </a:p>
        </p:txBody>
      </p:sp>
      <p:sp>
        <p:nvSpPr>
          <p:cNvPr id="66" name="Google Shape;66;p12"/>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accent5"/>
                </a:solidFill>
              </a:rPr>
              <a:t>Background:</a:t>
            </a:r>
            <a:endParaRPr>
              <a:solidFill>
                <a:schemeClr val="accent5"/>
              </a:solidFill>
            </a:endParaRPr>
          </a:p>
          <a:p>
            <a:pPr indent="0" lvl="0" marL="0" rtl="0" algn="l">
              <a:spcBef>
                <a:spcPts val="0"/>
              </a:spcBef>
              <a:spcAft>
                <a:spcPts val="0"/>
              </a:spcAft>
              <a:buClr>
                <a:schemeClr val="dk1"/>
              </a:buClr>
              <a:buSzPts val="3000"/>
              <a:buFont typeface="Encode Sans Black"/>
              <a:buNone/>
            </a:pPr>
            <a:r>
              <a:rPr lang="en-US"/>
              <a:t>Dataset Curation Crisis in Robotics</a:t>
            </a:r>
            <a:endParaRPr/>
          </a:p>
        </p:txBody>
      </p:sp>
      <p:pic>
        <p:nvPicPr>
          <p:cNvPr id="67" name="Google Shape;67;p12"/>
          <p:cNvPicPr preferRelativeResize="0"/>
          <p:nvPr/>
        </p:nvPicPr>
        <p:blipFill>
          <a:blip r:embed="rId3">
            <a:alphaModFix/>
          </a:blip>
          <a:stretch>
            <a:fillRect/>
          </a:stretch>
        </p:blipFill>
        <p:spPr>
          <a:xfrm>
            <a:off x="368750" y="3479301"/>
            <a:ext cx="3974149" cy="1576175"/>
          </a:xfrm>
          <a:prstGeom prst="rect">
            <a:avLst/>
          </a:prstGeom>
          <a:noFill/>
          <a:ln>
            <a:noFill/>
          </a:ln>
        </p:spPr>
      </p:pic>
      <p:pic>
        <p:nvPicPr>
          <p:cNvPr id="68" name="Google Shape;68;p12"/>
          <p:cNvPicPr preferRelativeResize="0"/>
          <p:nvPr/>
        </p:nvPicPr>
        <p:blipFill>
          <a:blip r:embed="rId4">
            <a:alphaModFix/>
          </a:blip>
          <a:stretch>
            <a:fillRect/>
          </a:stretch>
        </p:blipFill>
        <p:spPr>
          <a:xfrm>
            <a:off x="4794049" y="1730675"/>
            <a:ext cx="3851087" cy="2811025"/>
          </a:xfrm>
          <a:prstGeom prst="rect">
            <a:avLst/>
          </a:prstGeom>
          <a:noFill/>
          <a:ln>
            <a:noFill/>
          </a:ln>
        </p:spPr>
      </p:pic>
      <p:pic>
        <p:nvPicPr>
          <p:cNvPr id="69" name="Google Shape;69;p12"/>
          <p:cNvPicPr preferRelativeResize="0"/>
          <p:nvPr/>
        </p:nvPicPr>
        <p:blipFill>
          <a:blip r:embed="rId5">
            <a:alphaModFix/>
          </a:blip>
          <a:stretch>
            <a:fillRect/>
          </a:stretch>
        </p:blipFill>
        <p:spPr>
          <a:xfrm>
            <a:off x="7323302" y="775500"/>
            <a:ext cx="1820699" cy="890318"/>
          </a:xfrm>
          <a:prstGeom prst="rect">
            <a:avLst/>
          </a:prstGeom>
          <a:noFill/>
          <a:ln>
            <a:noFill/>
          </a:ln>
        </p:spPr>
      </p:pic>
      <p:pic>
        <p:nvPicPr>
          <p:cNvPr id="70" name="Google Shape;70;p12"/>
          <p:cNvPicPr preferRelativeResize="0"/>
          <p:nvPr/>
        </p:nvPicPr>
        <p:blipFill>
          <a:blip r:embed="rId6">
            <a:alphaModFix/>
          </a:blip>
          <a:stretch>
            <a:fillRect/>
          </a:stretch>
        </p:blipFill>
        <p:spPr>
          <a:xfrm>
            <a:off x="6266925" y="0"/>
            <a:ext cx="2877076" cy="775500"/>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4" name="Shape 74"/>
        <p:cNvGrpSpPr/>
        <p:nvPr/>
      </p:nvGrpSpPr>
      <p:grpSpPr>
        <a:xfrm>
          <a:off x="0" y="0"/>
          <a:ext cx="0" cy="0"/>
          <a:chOff x="0" y="0"/>
          <a:chExt cx="0" cy="0"/>
        </a:xfrm>
      </p:grpSpPr>
      <p:sp>
        <p:nvSpPr>
          <p:cNvPr id="75" name="Google Shape;75;p13"/>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lt2"/>
                </a:solidFill>
              </a:rPr>
              <a:t>Background:</a:t>
            </a:r>
            <a:endParaRPr>
              <a:solidFill>
                <a:schemeClr val="lt2"/>
              </a:solidFill>
            </a:endParaRPr>
          </a:p>
          <a:p>
            <a:pPr indent="0" lvl="0" marL="0" rtl="0" algn="l">
              <a:spcBef>
                <a:spcPts val="0"/>
              </a:spcBef>
              <a:spcAft>
                <a:spcPts val="0"/>
              </a:spcAft>
              <a:buClr>
                <a:schemeClr val="dk1"/>
              </a:buClr>
              <a:buSzPts val="3000"/>
              <a:buFont typeface="Encode Sans Black"/>
              <a:buNone/>
            </a:pPr>
            <a:r>
              <a:rPr lang="en-US">
                <a:solidFill>
                  <a:schemeClr val="accent2"/>
                </a:solidFill>
              </a:rPr>
              <a:t>Dataset Curation Crisis in Robotics</a:t>
            </a:r>
            <a:endParaRPr>
              <a:solidFill>
                <a:schemeClr val="accent2"/>
              </a:solidFill>
            </a:endParaRPr>
          </a:p>
        </p:txBody>
      </p:sp>
      <p:sp>
        <p:nvSpPr>
          <p:cNvPr id="76" name="Google Shape;76;p13"/>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solidFill>
                  <a:schemeClr val="lt2"/>
                </a:solidFill>
              </a:rPr>
              <a:t>Single-Modality Focus:</a:t>
            </a:r>
            <a:endParaRPr b="1" sz="2000">
              <a:solidFill>
                <a:schemeClr val="lt2"/>
              </a:solidFill>
            </a:endParaRPr>
          </a:p>
        </p:txBody>
      </p:sp>
      <p:sp>
        <p:nvSpPr>
          <p:cNvPr id="77" name="Google Shape;77;p13"/>
          <p:cNvSpPr txBox="1"/>
          <p:nvPr>
            <p:ph idx="1" type="body"/>
          </p:nvPr>
        </p:nvSpPr>
        <p:spPr>
          <a:xfrm>
            <a:off x="447925" y="2058250"/>
            <a:ext cx="45111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solidFill>
                  <a:schemeClr val="lt1"/>
                </a:solidFill>
              </a:rPr>
              <a:t>Existing tools (PCL, Open3D, CloudCompare) excel at processing individual point clouds or images, but cannot assess cross-modal synchronization in real time.</a:t>
            </a:r>
            <a:endParaRPr b="0" sz="2000">
              <a:solidFill>
                <a:schemeClr val="lt1"/>
              </a:solidFill>
            </a:endParaRPr>
          </a:p>
        </p:txBody>
      </p:sp>
      <p:pic>
        <p:nvPicPr>
          <p:cNvPr id="78" name="Google Shape;78;p13"/>
          <p:cNvPicPr preferRelativeResize="0"/>
          <p:nvPr/>
        </p:nvPicPr>
        <p:blipFill>
          <a:blip r:embed="rId3">
            <a:alphaModFix/>
          </a:blip>
          <a:stretch>
            <a:fillRect/>
          </a:stretch>
        </p:blipFill>
        <p:spPr>
          <a:xfrm>
            <a:off x="5455354" y="2436873"/>
            <a:ext cx="3508366" cy="1421782"/>
          </a:xfrm>
          <a:prstGeom prst="rect">
            <a:avLst/>
          </a:prstGeom>
          <a:noFill/>
          <a:ln>
            <a:noFill/>
          </a:ln>
        </p:spPr>
      </p:pic>
      <p:pic>
        <p:nvPicPr>
          <p:cNvPr id="79" name="Google Shape;79;p13"/>
          <p:cNvPicPr preferRelativeResize="0"/>
          <p:nvPr/>
        </p:nvPicPr>
        <p:blipFill rotWithShape="1">
          <a:blip r:embed="rId4">
            <a:alphaModFix/>
          </a:blip>
          <a:srcRect b="25986" l="0" r="0" t="0"/>
          <a:stretch/>
        </p:blipFill>
        <p:spPr>
          <a:xfrm>
            <a:off x="5455350" y="1454008"/>
            <a:ext cx="3508374" cy="993900"/>
          </a:xfrm>
          <a:prstGeom prst="rect">
            <a:avLst/>
          </a:prstGeom>
          <a:noFill/>
          <a:ln>
            <a:noFill/>
          </a:ln>
        </p:spPr>
      </p:pic>
      <p:pic>
        <p:nvPicPr>
          <p:cNvPr id="80" name="Google Shape;80;p13"/>
          <p:cNvPicPr preferRelativeResize="0"/>
          <p:nvPr/>
        </p:nvPicPr>
        <p:blipFill>
          <a:blip r:embed="rId5">
            <a:alphaModFix/>
          </a:blip>
          <a:stretch>
            <a:fillRect/>
          </a:stretch>
        </p:blipFill>
        <p:spPr>
          <a:xfrm>
            <a:off x="0" y="4066195"/>
            <a:ext cx="9143999" cy="1077310"/>
          </a:xfrm>
          <a:prstGeom prst="rect">
            <a:avLst/>
          </a:prstGeom>
          <a:noFill/>
          <a:ln>
            <a:noFill/>
          </a:ln>
        </p:spPr>
      </p:pic>
      <p:pic>
        <p:nvPicPr>
          <p:cNvPr id="81" name="Google Shape;81;p13"/>
          <p:cNvPicPr preferRelativeResize="0"/>
          <p:nvPr/>
        </p:nvPicPr>
        <p:blipFill>
          <a:blip r:embed="rId6">
            <a:alphaModFix/>
          </a:blip>
          <a:stretch>
            <a:fillRect/>
          </a:stretch>
        </p:blipFill>
        <p:spPr>
          <a:xfrm>
            <a:off x="5442774" y="-12581"/>
            <a:ext cx="3709574" cy="840675"/>
          </a:xfrm>
          <a:prstGeom prst="rect">
            <a:avLst/>
          </a:prstGeom>
          <a:noFill/>
          <a:ln>
            <a:noFill/>
          </a:ln>
        </p:spPr>
      </p:pic>
      <p:pic>
        <p:nvPicPr>
          <p:cNvPr id="82" name="Google Shape;82;p13"/>
          <p:cNvPicPr preferRelativeResize="0"/>
          <p:nvPr/>
        </p:nvPicPr>
        <p:blipFill>
          <a:blip r:embed="rId7">
            <a:alphaModFix/>
          </a:blip>
          <a:stretch>
            <a:fillRect/>
          </a:stretch>
        </p:blipFill>
        <p:spPr>
          <a:xfrm>
            <a:off x="72675" y="87630"/>
            <a:ext cx="375251" cy="252659"/>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idx="1" type="body"/>
          </p:nvPr>
        </p:nvSpPr>
        <p:spPr>
          <a:xfrm>
            <a:off x="447925" y="2058250"/>
            <a:ext cx="52155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t>Subtle temporal drift between LiDAR and camera streams, calibration drift over time</a:t>
            </a:r>
            <a:r>
              <a:rPr b="0" lang="en-US" sz="2000"/>
              <a:t>, or </a:t>
            </a:r>
            <a:r>
              <a:rPr b="0" lang="en-US" sz="2000"/>
              <a:t>transient occlusions can silently corrupt downstream ML models without explicit warnings.</a:t>
            </a:r>
            <a:endParaRPr b="0" sz="2000"/>
          </a:p>
        </p:txBody>
      </p:sp>
      <p:sp>
        <p:nvSpPr>
          <p:cNvPr id="88" name="Google Shape;88;p14"/>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t>Silent Failures:</a:t>
            </a:r>
            <a:endParaRPr b="1" sz="2000"/>
          </a:p>
        </p:txBody>
      </p:sp>
      <p:sp>
        <p:nvSpPr>
          <p:cNvPr id="89" name="Google Shape;89;p14"/>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accent5"/>
                </a:solidFill>
              </a:rPr>
              <a:t>Background</a:t>
            </a:r>
            <a:r>
              <a:rPr lang="en-US">
                <a:solidFill>
                  <a:schemeClr val="accent5"/>
                </a:solidFill>
              </a:rPr>
              <a:t>:</a:t>
            </a:r>
            <a:endParaRPr>
              <a:solidFill>
                <a:schemeClr val="accent5"/>
              </a:solidFill>
            </a:endParaRPr>
          </a:p>
          <a:p>
            <a:pPr indent="0" lvl="0" marL="0" rtl="0" algn="l">
              <a:spcBef>
                <a:spcPts val="0"/>
              </a:spcBef>
              <a:spcAft>
                <a:spcPts val="0"/>
              </a:spcAft>
              <a:buClr>
                <a:schemeClr val="dk1"/>
              </a:buClr>
              <a:buSzPts val="3000"/>
              <a:buFont typeface="Encode Sans Black"/>
              <a:buNone/>
            </a:pPr>
            <a:r>
              <a:rPr lang="en-US"/>
              <a:t>Dataset Curation Crisis in Robotics</a:t>
            </a:r>
            <a:endParaRPr/>
          </a:p>
        </p:txBody>
      </p:sp>
      <p:pic>
        <p:nvPicPr>
          <p:cNvPr id="90" name="Google Shape;90;p14"/>
          <p:cNvPicPr preferRelativeResize="0"/>
          <p:nvPr/>
        </p:nvPicPr>
        <p:blipFill>
          <a:blip r:embed="rId3">
            <a:alphaModFix/>
          </a:blip>
          <a:stretch>
            <a:fillRect/>
          </a:stretch>
        </p:blipFill>
        <p:spPr>
          <a:xfrm>
            <a:off x="0" y="3867025"/>
            <a:ext cx="5965126" cy="1276475"/>
          </a:xfrm>
          <a:prstGeom prst="rect">
            <a:avLst/>
          </a:prstGeom>
          <a:noFill/>
          <a:ln>
            <a:noFill/>
          </a:ln>
        </p:spPr>
      </p:pic>
      <p:pic>
        <p:nvPicPr>
          <p:cNvPr id="91" name="Google Shape;91;p14"/>
          <p:cNvPicPr preferRelativeResize="0"/>
          <p:nvPr/>
        </p:nvPicPr>
        <p:blipFill>
          <a:blip r:embed="rId4">
            <a:alphaModFix/>
          </a:blip>
          <a:stretch>
            <a:fillRect/>
          </a:stretch>
        </p:blipFill>
        <p:spPr>
          <a:xfrm>
            <a:off x="5601017" y="3144714"/>
            <a:ext cx="3417233" cy="1276475"/>
          </a:xfrm>
          <a:prstGeom prst="rect">
            <a:avLst/>
          </a:prstGeom>
          <a:noFill/>
          <a:ln>
            <a:noFill/>
          </a:ln>
        </p:spPr>
      </p:pic>
      <p:pic>
        <p:nvPicPr>
          <p:cNvPr id="92" name="Google Shape;92;p14"/>
          <p:cNvPicPr preferRelativeResize="0"/>
          <p:nvPr/>
        </p:nvPicPr>
        <p:blipFill>
          <a:blip r:embed="rId5">
            <a:alphaModFix/>
          </a:blip>
          <a:stretch>
            <a:fillRect/>
          </a:stretch>
        </p:blipFill>
        <p:spPr>
          <a:xfrm>
            <a:off x="5649298" y="2075314"/>
            <a:ext cx="3368944" cy="993900"/>
          </a:xfrm>
          <a:prstGeom prst="rect">
            <a:avLst/>
          </a:prstGeom>
          <a:noFill/>
          <a:ln>
            <a:noFill/>
          </a:ln>
        </p:spPr>
      </p:pic>
      <p:pic>
        <p:nvPicPr>
          <p:cNvPr id="93" name="Google Shape;93;p14"/>
          <p:cNvPicPr preferRelativeResize="0"/>
          <p:nvPr/>
        </p:nvPicPr>
        <p:blipFill>
          <a:blip r:embed="rId6">
            <a:alphaModFix/>
          </a:blip>
          <a:stretch>
            <a:fillRect/>
          </a:stretch>
        </p:blipFill>
        <p:spPr>
          <a:xfrm>
            <a:off x="5649292" y="1476316"/>
            <a:ext cx="3368949" cy="598998"/>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idx="2" type="body"/>
          </p:nvPr>
        </p:nvSpPr>
        <p:spPr>
          <a:xfrm>
            <a:off x="460375" y="1611238"/>
            <a:ext cx="8184600" cy="1166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2400"/>
              <a:buNone/>
            </a:pPr>
            <a:r>
              <a:rPr b="1" lang="en-US" sz="1600">
                <a:latin typeface="Roboto"/>
                <a:ea typeface="Roboto"/>
                <a:cs typeface="Roboto"/>
                <a:sym typeface="Roboto"/>
              </a:rPr>
              <a:t>&gt; </a:t>
            </a:r>
            <a:r>
              <a:rPr b="1" lang="en-US" sz="1600">
                <a:latin typeface="Roboto"/>
                <a:ea typeface="Roboto"/>
                <a:cs typeface="Roboto"/>
                <a:sym typeface="Roboto"/>
              </a:rPr>
              <a:t>Integration with Existing Workflows (ROS supported)</a:t>
            </a:r>
            <a:endParaRPr b="1" sz="1600">
              <a:latin typeface="Roboto"/>
              <a:ea typeface="Roboto"/>
              <a:cs typeface="Roboto"/>
              <a:sym typeface="Roboto"/>
            </a:endParaRPr>
          </a:p>
          <a:p>
            <a:pPr indent="0" lvl="0" marL="0" rtl="0" algn="l">
              <a:lnSpc>
                <a:spcPct val="90000"/>
              </a:lnSpc>
              <a:spcBef>
                <a:spcPts val="0"/>
              </a:spcBef>
              <a:spcAft>
                <a:spcPts val="0"/>
              </a:spcAft>
              <a:buClr>
                <a:schemeClr val="lt2"/>
              </a:buClr>
              <a:buSzPts val="2400"/>
              <a:buNone/>
            </a:pPr>
            <a:r>
              <a:rPr b="1" lang="en-US" sz="1600">
                <a:latin typeface="Roboto"/>
                <a:ea typeface="Roboto"/>
                <a:cs typeface="Roboto"/>
                <a:sym typeface="Roboto"/>
              </a:rPr>
              <a:t>&gt; Open-Source &amp; Community-Driven</a:t>
            </a:r>
            <a:endParaRPr b="1" sz="1600">
              <a:latin typeface="Roboto"/>
              <a:ea typeface="Roboto"/>
              <a:cs typeface="Roboto"/>
              <a:sym typeface="Roboto"/>
            </a:endParaRPr>
          </a:p>
          <a:p>
            <a:pPr indent="0" lvl="0" marL="0" rtl="0" algn="l">
              <a:spcBef>
                <a:spcPts val="0"/>
              </a:spcBef>
              <a:spcAft>
                <a:spcPts val="0"/>
              </a:spcAft>
              <a:buClr>
                <a:schemeClr val="lt2"/>
              </a:buClr>
              <a:buSzPts val="2400"/>
              <a:buNone/>
            </a:pPr>
            <a:r>
              <a:rPr b="1" lang="en-US" sz="1600">
                <a:latin typeface="Roboto"/>
                <a:ea typeface="Roboto"/>
                <a:cs typeface="Roboto"/>
                <a:sym typeface="Roboto"/>
              </a:rPr>
              <a:t>&gt; </a:t>
            </a:r>
            <a:r>
              <a:rPr b="1" lang="en-US" sz="1600">
                <a:latin typeface="Roboto"/>
                <a:ea typeface="Roboto"/>
                <a:cs typeface="Roboto"/>
                <a:sym typeface="Roboto"/>
              </a:rPr>
              <a:t>Scalability &amp; Automation</a:t>
            </a:r>
            <a:endParaRPr b="1" sz="1600">
              <a:latin typeface="Roboto"/>
              <a:ea typeface="Roboto"/>
              <a:cs typeface="Roboto"/>
              <a:sym typeface="Roboto"/>
            </a:endParaRPr>
          </a:p>
          <a:p>
            <a:pPr indent="0" lvl="0" marL="0" rtl="0" algn="l">
              <a:spcBef>
                <a:spcPts val="0"/>
              </a:spcBef>
              <a:spcAft>
                <a:spcPts val="0"/>
              </a:spcAft>
              <a:buClr>
                <a:schemeClr val="lt2"/>
              </a:buClr>
              <a:buSzPts val="2400"/>
              <a:buNone/>
            </a:pPr>
            <a:r>
              <a:rPr b="1" lang="en-US" sz="1600">
                <a:latin typeface="Roboto"/>
                <a:ea typeface="Roboto"/>
                <a:cs typeface="Roboto"/>
                <a:sym typeface="Roboto"/>
              </a:rPr>
              <a:t>&gt; Multi-Modal Coverage</a:t>
            </a:r>
            <a:endParaRPr b="1" sz="1600">
              <a:latin typeface="Roboto"/>
              <a:ea typeface="Roboto"/>
              <a:cs typeface="Roboto"/>
              <a:sym typeface="Roboto"/>
            </a:endParaRPr>
          </a:p>
        </p:txBody>
      </p:sp>
      <p:sp>
        <p:nvSpPr>
          <p:cNvPr id="99" name="Google Shape;99;p15"/>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The Business &amp; Research Impact</a:t>
            </a:r>
            <a:endParaRPr/>
          </a:p>
          <a:p>
            <a:pPr indent="0" lvl="0" marL="0" rtl="0" algn="l">
              <a:spcBef>
                <a:spcPts val="0"/>
              </a:spcBef>
              <a:spcAft>
                <a:spcPts val="0"/>
              </a:spcAft>
              <a:buClr>
                <a:schemeClr val="lt2"/>
              </a:buClr>
              <a:buSzPts val="3000"/>
              <a:buFont typeface="Encode Sans Black"/>
              <a:buNone/>
            </a:pPr>
            <a:r>
              <a:rPr lang="en-US">
                <a:solidFill>
                  <a:schemeClr val="lt1"/>
                </a:solidFill>
              </a:rPr>
              <a:t>Why RoboQA? Why this TOOL?</a:t>
            </a:r>
            <a:endParaRPr>
              <a:solidFill>
                <a:schemeClr val="lt1"/>
              </a:solidFill>
            </a:endParaRPr>
          </a:p>
        </p:txBody>
      </p:sp>
      <p:pic>
        <p:nvPicPr>
          <p:cNvPr id="100" name="Google Shape;100;p15"/>
          <p:cNvPicPr preferRelativeResize="0"/>
          <p:nvPr/>
        </p:nvPicPr>
        <p:blipFill>
          <a:blip r:embed="rId3">
            <a:alphaModFix/>
          </a:blip>
          <a:stretch>
            <a:fillRect/>
          </a:stretch>
        </p:blipFill>
        <p:spPr>
          <a:xfrm>
            <a:off x="3141951" y="2343190"/>
            <a:ext cx="2620200" cy="1386600"/>
          </a:xfrm>
          <a:prstGeom prst="roundRect">
            <a:avLst>
              <a:gd fmla="val 8440" name="adj"/>
            </a:avLst>
          </a:prstGeom>
          <a:noFill/>
          <a:ln>
            <a:noFill/>
          </a:ln>
        </p:spPr>
      </p:pic>
      <p:sp>
        <p:nvSpPr>
          <p:cNvPr id="101" name="Google Shape;101;p15"/>
          <p:cNvSpPr txBox="1"/>
          <p:nvPr>
            <p:ph idx="2" type="body"/>
          </p:nvPr>
        </p:nvSpPr>
        <p:spPr>
          <a:xfrm>
            <a:off x="3404441" y="3794580"/>
            <a:ext cx="20952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Model Poisoning</a:t>
            </a:r>
            <a:endParaRPr b="1" sz="1800"/>
          </a:p>
        </p:txBody>
      </p:sp>
      <p:pic>
        <p:nvPicPr>
          <p:cNvPr id="102" name="Google Shape;102;p15"/>
          <p:cNvPicPr preferRelativeResize="0"/>
          <p:nvPr/>
        </p:nvPicPr>
        <p:blipFill>
          <a:blip r:embed="rId4">
            <a:alphaModFix/>
          </a:blip>
          <a:stretch>
            <a:fillRect/>
          </a:stretch>
        </p:blipFill>
        <p:spPr>
          <a:xfrm>
            <a:off x="247325" y="2875755"/>
            <a:ext cx="2620200" cy="1472400"/>
          </a:xfrm>
          <a:prstGeom prst="roundRect">
            <a:avLst>
              <a:gd fmla="val 7681" name="adj"/>
            </a:avLst>
          </a:prstGeom>
          <a:noFill/>
          <a:ln>
            <a:noFill/>
          </a:ln>
        </p:spPr>
      </p:pic>
      <p:sp>
        <p:nvSpPr>
          <p:cNvPr id="103" name="Google Shape;103;p15"/>
          <p:cNvSpPr txBox="1"/>
          <p:nvPr>
            <p:ph idx="2" type="body"/>
          </p:nvPr>
        </p:nvSpPr>
        <p:spPr>
          <a:xfrm>
            <a:off x="458085" y="4538013"/>
            <a:ext cx="21987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Wasted Compute</a:t>
            </a:r>
            <a:endParaRPr b="1" sz="1800"/>
          </a:p>
        </p:txBody>
      </p:sp>
      <p:pic>
        <p:nvPicPr>
          <p:cNvPr id="104" name="Google Shape;104;p15"/>
          <p:cNvPicPr preferRelativeResize="0"/>
          <p:nvPr/>
        </p:nvPicPr>
        <p:blipFill>
          <a:blip r:embed="rId5">
            <a:alphaModFix/>
          </a:blip>
          <a:stretch>
            <a:fillRect/>
          </a:stretch>
        </p:blipFill>
        <p:spPr>
          <a:xfrm>
            <a:off x="7379500" y="193355"/>
            <a:ext cx="1600200" cy="1600200"/>
          </a:xfrm>
          <a:prstGeom prst="roundRect">
            <a:avLst>
              <a:gd fmla="val 6963" name="adj"/>
            </a:avLst>
          </a:prstGeom>
          <a:noFill/>
          <a:ln>
            <a:noFill/>
          </a:ln>
        </p:spPr>
      </p:pic>
      <p:sp>
        <p:nvSpPr>
          <p:cNvPr id="105" name="Google Shape;105;p15"/>
          <p:cNvSpPr txBox="1"/>
          <p:nvPr>
            <p:ph idx="2" type="body"/>
          </p:nvPr>
        </p:nvSpPr>
        <p:spPr>
          <a:xfrm>
            <a:off x="6279511" y="1883800"/>
            <a:ext cx="3098100" cy="328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Unre</a:t>
            </a:r>
            <a:r>
              <a:rPr b="1" lang="en-US" sz="1800"/>
              <a:t>producible </a:t>
            </a:r>
            <a:r>
              <a:rPr b="1" lang="en-US" sz="1800"/>
              <a:t>results</a:t>
            </a:r>
            <a:endParaRPr b="1" sz="1800"/>
          </a:p>
        </p:txBody>
      </p:sp>
      <p:pic>
        <p:nvPicPr>
          <p:cNvPr id="106" name="Google Shape;106;p15"/>
          <p:cNvPicPr preferRelativeResize="0"/>
          <p:nvPr/>
        </p:nvPicPr>
        <p:blipFill>
          <a:blip r:embed="rId6">
            <a:alphaModFix/>
          </a:blip>
          <a:stretch>
            <a:fillRect/>
          </a:stretch>
        </p:blipFill>
        <p:spPr>
          <a:xfrm>
            <a:off x="5950600" y="2532822"/>
            <a:ext cx="3029100" cy="1514400"/>
          </a:xfrm>
          <a:prstGeom prst="roundRect">
            <a:avLst>
              <a:gd fmla="val 10923" name="adj"/>
            </a:avLst>
          </a:prstGeom>
          <a:noFill/>
          <a:ln>
            <a:noFill/>
          </a:ln>
        </p:spPr>
      </p:pic>
      <p:sp>
        <p:nvSpPr>
          <p:cNvPr id="107" name="Google Shape;107;p15"/>
          <p:cNvSpPr txBox="1"/>
          <p:nvPr>
            <p:ph idx="2" type="body"/>
          </p:nvPr>
        </p:nvSpPr>
        <p:spPr>
          <a:xfrm>
            <a:off x="6581026" y="4126730"/>
            <a:ext cx="20952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Slow Iteration</a:t>
            </a:r>
            <a:endParaRPr b="1" sz="1800"/>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1000"/>
                                        <p:tgtEl>
                                          <p:spTgt spid="10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1000"/>
                                        <p:tgtEl>
                                          <p:spTgt spid="1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1000"/>
                                        <p:tgtEl>
                                          <p:spTgt spid="10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1000"/>
                                        <p:tgtEl>
                                          <p:spTgt spid="1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1000"/>
                                        <p:tgtEl>
                                          <p:spTgt spid="1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1000"/>
                                        <p:tgtEl>
                                          <p:spTgt spid="10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1000"/>
                                        <p:tgtEl>
                                          <p:spTgt spid="1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rgbClr val="6A1C80"/>
                </a:solidFill>
              </a:rPr>
              <a:t>Technology Review:</a:t>
            </a:r>
            <a:endParaRPr>
              <a:solidFill>
                <a:srgbClr val="6A1C80"/>
              </a:solidFill>
            </a:endParaRPr>
          </a:p>
          <a:p>
            <a:pPr indent="0" lvl="0" marL="0" rtl="0" algn="l">
              <a:spcBef>
                <a:spcPts val="0"/>
              </a:spcBef>
              <a:spcAft>
                <a:spcPts val="0"/>
              </a:spcAft>
              <a:buClr>
                <a:schemeClr val="dk1"/>
              </a:buClr>
              <a:buSzPts val="3000"/>
              <a:buFont typeface="Encode Sans Black"/>
              <a:buNone/>
            </a:pPr>
            <a:r>
              <a:rPr b="0" lang="en-US" sz="1800">
                <a:latin typeface="Encode Sans"/>
                <a:ea typeface="Encode Sans"/>
                <a:cs typeface="Encode Sans"/>
                <a:sym typeface="Encode Sans"/>
              </a:rPr>
              <a:t>RoboQA-Temporal is a Python toolkit that ingests rosbags and runs automated checks across four dimensions</a:t>
            </a:r>
            <a:endParaRPr b="0" sz="1800">
              <a:latin typeface="Encode Sans"/>
              <a:ea typeface="Encode Sans"/>
              <a:cs typeface="Encode Sans"/>
              <a:sym typeface="Encode Sans"/>
            </a:endParaRPr>
          </a:p>
        </p:txBody>
      </p:sp>
      <p:sp>
        <p:nvSpPr>
          <p:cNvPr id="113" name="Google Shape;113;p16"/>
          <p:cNvSpPr/>
          <p:nvPr/>
        </p:nvSpPr>
        <p:spPr>
          <a:xfrm rot="-711070">
            <a:off x="6785670"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14" name="Google Shape;114;p16"/>
          <p:cNvSpPr/>
          <p:nvPr/>
        </p:nvSpPr>
        <p:spPr>
          <a:xfrm flipH="1" rot="711070">
            <a:off x="5281075"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15" name="Google Shape;115;p16"/>
          <p:cNvGrpSpPr/>
          <p:nvPr/>
        </p:nvGrpSpPr>
        <p:grpSpPr>
          <a:xfrm>
            <a:off x="5755351" y="3119469"/>
            <a:ext cx="2005572" cy="1441167"/>
            <a:chOff x="5796625" y="2541798"/>
            <a:chExt cx="1712700" cy="1230715"/>
          </a:xfrm>
        </p:grpSpPr>
        <p:sp>
          <p:nvSpPr>
            <p:cNvPr id="116" name="Google Shape;116;p16"/>
            <p:cNvSpPr/>
            <p:nvPr/>
          </p:nvSpPr>
          <p:spPr>
            <a:xfrm rot="-1789476">
              <a:off x="6572742" y="2571072"/>
              <a:ext cx="160451" cy="160451"/>
            </a:xfrm>
            <a:prstGeom prst="ellipse">
              <a:avLst/>
            </a:prstGeom>
            <a:solidFill>
              <a:srgbClr val="FFFFFF"/>
            </a:solidFill>
            <a:ln cap="flat" cmpd="sng" w="44625">
              <a:solidFill>
                <a:srgbClr val="858585"/>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17" name="Google Shape;117;p16"/>
            <p:cNvSpPr txBox="1"/>
            <p:nvPr/>
          </p:nvSpPr>
          <p:spPr>
            <a:xfrm>
              <a:off x="6253669" y="2735591"/>
              <a:ext cx="8391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rgbClr val="701C7F"/>
                  </a:solidFill>
                  <a:latin typeface="Roboto"/>
                  <a:ea typeface="Roboto"/>
                  <a:cs typeface="Roboto"/>
                  <a:sym typeface="Roboto"/>
                </a:rPr>
                <a:t>Feature - IV</a:t>
              </a:r>
              <a:endParaRPr b="1" sz="936">
                <a:solidFill>
                  <a:srgbClr val="701C7F"/>
                </a:solidFill>
                <a:latin typeface="Roboto"/>
                <a:ea typeface="Roboto"/>
                <a:cs typeface="Roboto"/>
                <a:sym typeface="Roboto"/>
              </a:endParaRPr>
            </a:p>
          </p:txBody>
        </p:sp>
        <p:sp>
          <p:nvSpPr>
            <p:cNvPr id="118" name="Google Shape;118;p16"/>
            <p:cNvSpPr/>
            <p:nvPr/>
          </p:nvSpPr>
          <p:spPr>
            <a:xfrm>
              <a:off x="5796625" y="3069013"/>
              <a:ext cx="1712700" cy="703500"/>
            </a:xfrm>
            <a:prstGeom prst="roundRect">
              <a:avLst>
                <a:gd fmla="val 4485"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19" name="Google Shape;119;p16"/>
            <p:cNvSpPr txBox="1"/>
            <p:nvPr/>
          </p:nvSpPr>
          <p:spPr>
            <a:xfrm>
              <a:off x="5840875" y="3138431"/>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701C7F"/>
                  </a:solidFill>
                  <a:latin typeface="Roboto"/>
                  <a:ea typeface="Roboto"/>
                  <a:cs typeface="Roboto"/>
                  <a:sym typeface="Roboto"/>
                </a:rPr>
                <a:t>Automated Health Reporting</a:t>
              </a:r>
              <a:endParaRPr b="1" sz="1236">
                <a:solidFill>
                  <a:srgbClr val="701C7F"/>
                </a:solidFill>
              </a:endParaRPr>
            </a:p>
          </p:txBody>
        </p:sp>
        <p:sp>
          <p:nvSpPr>
            <p:cNvPr id="120" name="Google Shape;120;p16"/>
            <p:cNvSpPr/>
            <p:nvPr/>
          </p:nvSpPr>
          <p:spPr>
            <a:xfrm>
              <a:off x="6607975" y="3004364"/>
              <a:ext cx="90000" cy="67500"/>
            </a:xfrm>
            <a:prstGeom prst="triangle">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
        <p:nvSpPr>
          <p:cNvPr id="121" name="Google Shape;121;p16"/>
          <p:cNvSpPr/>
          <p:nvPr/>
        </p:nvSpPr>
        <p:spPr>
          <a:xfrm rot="-711070">
            <a:off x="3780986"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22" name="Google Shape;122;p16"/>
          <p:cNvGrpSpPr/>
          <p:nvPr/>
        </p:nvGrpSpPr>
        <p:grpSpPr>
          <a:xfrm>
            <a:off x="4288007" y="1595797"/>
            <a:ext cx="2005572" cy="1459948"/>
            <a:chOff x="4409300" y="1219942"/>
            <a:chExt cx="1712700" cy="1246754"/>
          </a:xfrm>
        </p:grpSpPr>
        <p:sp>
          <p:nvSpPr>
            <p:cNvPr id="123" name="Google Shape;123;p16"/>
            <p:cNvSpPr/>
            <p:nvPr/>
          </p:nvSpPr>
          <p:spPr>
            <a:xfrm rot="-1789476">
              <a:off x="5185416" y="2276970"/>
              <a:ext cx="160451" cy="160451"/>
            </a:xfrm>
            <a:prstGeom prst="ellipse">
              <a:avLst/>
            </a:prstGeom>
            <a:solidFill>
              <a:srgbClr val="FFFFFF"/>
            </a:solidFill>
            <a:ln cap="flat" cmpd="sng" w="44625">
              <a:solidFill>
                <a:srgbClr val="858585"/>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24" name="Google Shape;124;p16"/>
            <p:cNvSpPr txBox="1"/>
            <p:nvPr/>
          </p:nvSpPr>
          <p:spPr>
            <a:xfrm>
              <a:off x="4878785" y="1985295"/>
              <a:ext cx="8124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rgbClr val="701C7F"/>
                  </a:solidFill>
                  <a:latin typeface="Roboto"/>
                  <a:ea typeface="Roboto"/>
                  <a:cs typeface="Roboto"/>
                  <a:sym typeface="Roboto"/>
                </a:rPr>
                <a:t>Feature  - III</a:t>
              </a:r>
              <a:endParaRPr b="1" sz="936">
                <a:solidFill>
                  <a:srgbClr val="701C7F"/>
                </a:solidFill>
                <a:latin typeface="Roboto"/>
                <a:ea typeface="Roboto"/>
                <a:cs typeface="Roboto"/>
                <a:sym typeface="Roboto"/>
              </a:endParaRPr>
            </a:p>
          </p:txBody>
        </p:sp>
        <p:sp>
          <p:nvSpPr>
            <p:cNvPr id="125" name="Google Shape;125;p16"/>
            <p:cNvSpPr/>
            <p:nvPr/>
          </p:nvSpPr>
          <p:spPr>
            <a:xfrm>
              <a:off x="4409300" y="1219942"/>
              <a:ext cx="1712700" cy="703500"/>
            </a:xfrm>
            <a:prstGeom prst="roundRect">
              <a:avLst>
                <a:gd fmla="val 4485"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26" name="Google Shape;126;p16"/>
            <p:cNvSpPr/>
            <p:nvPr/>
          </p:nvSpPr>
          <p:spPr>
            <a:xfrm rot="10800000">
              <a:off x="5220625" y="1919036"/>
              <a:ext cx="90000" cy="67500"/>
            </a:xfrm>
            <a:prstGeom prst="triangle">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27" name="Google Shape;127;p16"/>
            <p:cNvSpPr txBox="1"/>
            <p:nvPr/>
          </p:nvSpPr>
          <p:spPr>
            <a:xfrm>
              <a:off x="4453550" y="1289360"/>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701C7F"/>
                  </a:solidFill>
                  <a:latin typeface="Roboto"/>
                  <a:ea typeface="Roboto"/>
                  <a:cs typeface="Roboto"/>
                  <a:sym typeface="Roboto"/>
                </a:rPr>
                <a:t>Camera-LiDAR Fusion Quality</a:t>
              </a:r>
              <a:endParaRPr b="1" sz="1236">
                <a:solidFill>
                  <a:srgbClr val="701C7F"/>
                </a:solidFill>
              </a:endParaRPr>
            </a:p>
          </p:txBody>
        </p:sp>
      </p:grpSp>
      <p:sp>
        <p:nvSpPr>
          <p:cNvPr id="128" name="Google Shape;128;p16"/>
          <p:cNvSpPr/>
          <p:nvPr/>
        </p:nvSpPr>
        <p:spPr>
          <a:xfrm flipH="1" rot="711070">
            <a:off x="2268263" y="3053977"/>
            <a:ext cx="1582022" cy="67489"/>
          </a:xfrm>
          <a:prstGeom prst="roundRect">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29" name="Google Shape;129;p16"/>
          <p:cNvGrpSpPr/>
          <p:nvPr/>
        </p:nvGrpSpPr>
        <p:grpSpPr>
          <a:xfrm>
            <a:off x="2816754" y="3119469"/>
            <a:ext cx="2005572" cy="1441167"/>
            <a:chOff x="3021975" y="2541798"/>
            <a:chExt cx="1712700" cy="1230715"/>
          </a:xfrm>
        </p:grpSpPr>
        <p:sp>
          <p:nvSpPr>
            <p:cNvPr id="130" name="Google Shape;130;p16"/>
            <p:cNvSpPr txBox="1"/>
            <p:nvPr/>
          </p:nvSpPr>
          <p:spPr>
            <a:xfrm>
              <a:off x="3529877" y="2735584"/>
              <a:ext cx="6969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chemeClr val="accent5"/>
                  </a:solidFill>
                  <a:latin typeface="Roboto"/>
                  <a:ea typeface="Roboto"/>
                  <a:cs typeface="Roboto"/>
                  <a:sym typeface="Roboto"/>
                </a:rPr>
                <a:t>Feature - II</a:t>
              </a:r>
              <a:endParaRPr b="1" sz="936">
                <a:solidFill>
                  <a:schemeClr val="accent5"/>
                </a:solidFill>
                <a:latin typeface="Roboto"/>
                <a:ea typeface="Roboto"/>
                <a:cs typeface="Roboto"/>
                <a:sym typeface="Roboto"/>
              </a:endParaRPr>
            </a:p>
          </p:txBody>
        </p:sp>
        <p:sp>
          <p:nvSpPr>
            <p:cNvPr id="131" name="Google Shape;131;p16"/>
            <p:cNvSpPr/>
            <p:nvPr/>
          </p:nvSpPr>
          <p:spPr>
            <a:xfrm rot="-1789476">
              <a:off x="3798091" y="2571072"/>
              <a:ext cx="160451" cy="160451"/>
            </a:xfrm>
            <a:prstGeom prst="ellipse">
              <a:avLst/>
            </a:prstGeom>
            <a:solidFill>
              <a:srgbClr val="FFFFFF"/>
            </a:solidFill>
            <a:ln cap="flat" cmpd="sng" w="44625">
              <a:solidFill>
                <a:srgbClr val="701C7F"/>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32" name="Google Shape;132;p16"/>
            <p:cNvSpPr/>
            <p:nvPr/>
          </p:nvSpPr>
          <p:spPr>
            <a:xfrm>
              <a:off x="3021975" y="3069013"/>
              <a:ext cx="1712700" cy="703500"/>
            </a:xfrm>
            <a:prstGeom prst="roundRect">
              <a:avLst>
                <a:gd fmla="val 4485"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33" name="Google Shape;133;p16"/>
            <p:cNvSpPr txBox="1"/>
            <p:nvPr/>
          </p:nvSpPr>
          <p:spPr>
            <a:xfrm>
              <a:off x="3066225" y="3138431"/>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FFFFFF"/>
                  </a:solidFill>
                  <a:latin typeface="Roboto"/>
                  <a:ea typeface="Roboto"/>
                  <a:cs typeface="Roboto"/>
                  <a:sym typeface="Roboto"/>
                </a:rPr>
                <a:t>Spatio-Temporal Point Cloud Anomalies</a:t>
              </a:r>
              <a:endParaRPr b="1" sz="1236">
                <a:solidFill>
                  <a:srgbClr val="FFFFFF"/>
                </a:solidFill>
                <a:latin typeface="Roboto"/>
                <a:ea typeface="Roboto"/>
                <a:cs typeface="Roboto"/>
                <a:sym typeface="Roboto"/>
              </a:endParaRPr>
            </a:p>
          </p:txBody>
        </p:sp>
        <p:sp>
          <p:nvSpPr>
            <p:cNvPr id="134" name="Google Shape;134;p16"/>
            <p:cNvSpPr/>
            <p:nvPr/>
          </p:nvSpPr>
          <p:spPr>
            <a:xfrm>
              <a:off x="3833325" y="3004364"/>
              <a:ext cx="90000" cy="67500"/>
            </a:xfrm>
            <a:prstGeom prst="triangle">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
        <p:nvSpPr>
          <p:cNvPr id="135" name="Google Shape;135;p16"/>
          <p:cNvSpPr/>
          <p:nvPr/>
        </p:nvSpPr>
        <p:spPr>
          <a:xfrm rot="-711070">
            <a:off x="776312" y="3053977"/>
            <a:ext cx="1582022" cy="67489"/>
          </a:xfrm>
          <a:prstGeom prst="roundRect">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36" name="Google Shape;136;p16"/>
          <p:cNvGrpSpPr/>
          <p:nvPr/>
        </p:nvGrpSpPr>
        <p:grpSpPr>
          <a:xfrm>
            <a:off x="1309901" y="1595797"/>
            <a:ext cx="2005572" cy="1459948"/>
            <a:chOff x="1637475" y="1219942"/>
            <a:chExt cx="1712700" cy="1246754"/>
          </a:xfrm>
        </p:grpSpPr>
        <p:sp>
          <p:nvSpPr>
            <p:cNvPr id="137" name="Google Shape;137;p16"/>
            <p:cNvSpPr/>
            <p:nvPr/>
          </p:nvSpPr>
          <p:spPr>
            <a:xfrm>
              <a:off x="1637475" y="1219942"/>
              <a:ext cx="1712700" cy="703500"/>
            </a:xfrm>
            <a:prstGeom prst="roundRect">
              <a:avLst>
                <a:gd fmla="val 4485"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38" name="Google Shape;138;p16"/>
            <p:cNvSpPr txBox="1"/>
            <p:nvPr/>
          </p:nvSpPr>
          <p:spPr>
            <a:xfrm>
              <a:off x="2144544" y="1985297"/>
              <a:ext cx="6969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chemeClr val="accent5"/>
                  </a:solidFill>
                  <a:latin typeface="Roboto"/>
                  <a:ea typeface="Roboto"/>
                  <a:cs typeface="Roboto"/>
                  <a:sym typeface="Roboto"/>
                </a:rPr>
                <a:t>Feature - I</a:t>
              </a:r>
              <a:endParaRPr b="1" sz="936">
                <a:solidFill>
                  <a:schemeClr val="accent5"/>
                </a:solidFill>
                <a:latin typeface="Roboto"/>
                <a:ea typeface="Roboto"/>
                <a:cs typeface="Roboto"/>
                <a:sym typeface="Roboto"/>
              </a:endParaRPr>
            </a:p>
          </p:txBody>
        </p:sp>
        <p:sp>
          <p:nvSpPr>
            <p:cNvPr id="139" name="Google Shape;139;p16"/>
            <p:cNvSpPr/>
            <p:nvPr/>
          </p:nvSpPr>
          <p:spPr>
            <a:xfrm rot="10800000">
              <a:off x="2448800" y="1919036"/>
              <a:ext cx="90000" cy="67500"/>
            </a:xfrm>
            <a:prstGeom prst="triangle">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40" name="Google Shape;140;p16"/>
            <p:cNvSpPr txBox="1"/>
            <p:nvPr/>
          </p:nvSpPr>
          <p:spPr>
            <a:xfrm>
              <a:off x="1681725" y="1224924"/>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FFFFFF"/>
                  </a:solidFill>
                  <a:latin typeface="Roboto"/>
                  <a:ea typeface="Roboto"/>
                  <a:cs typeface="Roboto"/>
                  <a:sym typeface="Roboto"/>
                </a:rPr>
                <a:t>Cross-Modal Synchronization Analysis</a:t>
              </a:r>
              <a:endParaRPr b="1" sz="1236">
                <a:solidFill>
                  <a:srgbClr val="FFFFFF"/>
                </a:solidFill>
              </a:endParaRPr>
            </a:p>
          </p:txBody>
        </p:sp>
        <p:sp>
          <p:nvSpPr>
            <p:cNvPr id="141" name="Google Shape;141;p16"/>
            <p:cNvSpPr/>
            <p:nvPr/>
          </p:nvSpPr>
          <p:spPr>
            <a:xfrm rot="-1789476">
              <a:off x="2410765" y="2276970"/>
              <a:ext cx="160451" cy="160451"/>
            </a:xfrm>
            <a:prstGeom prst="ellipse">
              <a:avLst/>
            </a:prstGeom>
            <a:solidFill>
              <a:srgbClr val="FFFFFF"/>
            </a:solidFill>
            <a:ln cap="flat" cmpd="sng" w="44625">
              <a:solidFill>
                <a:srgbClr val="701C7F"/>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1000"/>
                                        <p:tgtEl>
                                          <p:spTgt spid="1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1000"/>
                                        <p:tgtEl>
                                          <p:spTgt spid="1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1000"/>
                                        <p:tgtEl>
                                          <p:spTgt spid="12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1000"/>
                                        <p:tgtEl>
                                          <p:spTgt spid="11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Cross-Modal Synchronization Analysis</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rosbag + message_filters (ROS Official)</a:t>
            </a:r>
            <a:endParaRPr sz="2000">
              <a:solidFill>
                <a:schemeClr val="lt1"/>
              </a:solidFill>
            </a:endParaRPr>
          </a:p>
        </p:txBody>
      </p:sp>
      <p:graphicFrame>
        <p:nvGraphicFramePr>
          <p:cNvPr id="147" name="Google Shape;147;p17"/>
          <p:cNvGraphicFramePr/>
          <p:nvPr/>
        </p:nvGraphicFramePr>
        <p:xfrm>
          <a:off x="447949" y="1687350"/>
          <a:ext cx="3000000" cy="3000000"/>
        </p:xfrm>
        <a:graphic>
          <a:graphicData uri="http://schemas.openxmlformats.org/drawingml/2006/table">
            <a:tbl>
              <a:tblPr>
                <a:noFill/>
                <a:tableStyleId>{3E16531C-AD76-45C2-81AC-FE34C9191F49}</a:tableStyleId>
              </a:tblPr>
              <a:tblGrid>
                <a:gridCol w="1708400"/>
                <a:gridCol w="2219350"/>
                <a:gridCol w="1996900"/>
                <a:gridCol w="2272550"/>
              </a:tblGrid>
              <a:tr h="307200">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Aspect</a:t>
                      </a:r>
                      <a:endParaRPr b="1" sz="10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rosbag + message_filters</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Matlab/SegmentsAI Toolbox</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Custom Python Parser</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31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Native ROS Support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Natively designed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Proprietary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Manual header parsing</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7607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Timestamp Precision</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ns resolution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ns resolution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Depends on implementation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43342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Multi-Sensor Sync</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Built-in </a:t>
                      </a:r>
                      <a:r>
                        <a:rPr lang="en-US" sz="1000">
                          <a:latin typeface="Encode Sans"/>
                          <a:ea typeface="Encode Sans"/>
                          <a:cs typeface="Encode Sans"/>
                          <a:sym typeface="Encode Sans"/>
                        </a:rPr>
                        <a:t>Approximate Time</a:t>
                      </a:r>
                      <a:r>
                        <a:rPr lang="en-US" sz="1000">
                          <a:latin typeface="Encode Sans"/>
                          <a:ea typeface="Encode Sans"/>
                          <a:cs typeface="Encode Sans"/>
                          <a:sym typeface="Encode Sans"/>
                        </a:rPr>
                        <a:t> policy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Available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Must code manually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31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Ease of Use</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Simple API</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Commercial tool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High complexity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4162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Cost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Open-source (free)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~$3,000+/license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Free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295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Community Support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ROS Wiki + forums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 robotics community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 standard support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3015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Performance</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Optimized for ROS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Optimized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Variable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072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Production Ready</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Battle-tested (10+ years)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Mature (Prod deployed sol.)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Custom-specific (first time in-use)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bl>
          </a:graphicData>
        </a:graphic>
      </p:graphicFrame>
      <p:pic>
        <p:nvPicPr>
          <p:cNvPr id="148" name="Google Shape;148;p17"/>
          <p:cNvPicPr preferRelativeResize="0"/>
          <p:nvPr/>
        </p:nvPicPr>
        <p:blipFill>
          <a:blip r:embed="rId3">
            <a:alphaModFix/>
          </a:blip>
          <a:stretch>
            <a:fillRect/>
          </a:stretch>
        </p:blipFill>
        <p:spPr>
          <a:xfrm>
            <a:off x="8450100" y="87637"/>
            <a:ext cx="613575" cy="413125"/>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1000"/>
                                        <p:tgtEl>
                                          <p:spTgt spid="14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2" name="Shape 152"/>
        <p:cNvGrpSpPr/>
        <p:nvPr/>
      </p:nvGrpSpPr>
      <p:grpSpPr>
        <a:xfrm>
          <a:off x="0" y="0"/>
          <a:ext cx="0" cy="0"/>
          <a:chOff x="0" y="0"/>
          <a:chExt cx="0" cy="0"/>
        </a:xfrm>
      </p:grpSpPr>
      <p:sp>
        <p:nvSpPr>
          <p:cNvPr id="153" name="Google Shape;153;p18"/>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solidFill>
                  <a:schemeClr val="accent2"/>
                </a:solidFill>
              </a:rPr>
              <a:t>Spatio-Temporal PC Anomaly Detection</a:t>
            </a:r>
            <a:endParaRPr>
              <a:solidFill>
                <a:schemeClr val="accent2"/>
              </a:solidFill>
            </a:endParaRPr>
          </a:p>
          <a:p>
            <a:pPr indent="0" lvl="0" marL="0" rtl="0" algn="l">
              <a:spcBef>
                <a:spcPts val="0"/>
              </a:spcBef>
              <a:spcAft>
                <a:spcPts val="0"/>
              </a:spcAft>
              <a:buClr>
                <a:schemeClr val="lt2"/>
              </a:buClr>
              <a:buSzPts val="3000"/>
              <a:buFont typeface="Encode Sans Black"/>
              <a:buNone/>
            </a:pPr>
            <a:r>
              <a:rPr lang="en-US" sz="2000">
                <a:solidFill>
                  <a:schemeClr val="dk1"/>
                </a:solidFill>
              </a:rPr>
              <a:t>Open3D + scikit-learn</a:t>
            </a:r>
            <a:endParaRPr sz="2000">
              <a:solidFill>
                <a:schemeClr val="dk1"/>
              </a:solidFill>
            </a:endParaRPr>
          </a:p>
        </p:txBody>
      </p:sp>
      <p:graphicFrame>
        <p:nvGraphicFramePr>
          <p:cNvPr id="154" name="Google Shape;154;p18"/>
          <p:cNvGraphicFramePr/>
          <p:nvPr/>
        </p:nvGraphicFramePr>
        <p:xfrm>
          <a:off x="460525" y="1687350"/>
          <a:ext cx="3000000" cy="3000000"/>
        </p:xfrm>
        <a:graphic>
          <a:graphicData uri="http://schemas.openxmlformats.org/drawingml/2006/table">
            <a:tbl>
              <a:tblPr>
                <a:noFill/>
                <a:tableStyleId>{3E16531C-AD76-45C2-81AC-FE34C9191F49}</a:tableStyleId>
              </a:tblPr>
              <a:tblGrid>
                <a:gridCol w="1589525"/>
                <a:gridCol w="1755725"/>
                <a:gridCol w="1667750"/>
                <a:gridCol w="1604675"/>
                <a:gridCol w="1579500"/>
              </a:tblGrid>
              <a:tr h="2845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Aspect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Open3D + scikit-learn</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PCL (C++)</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PyVista</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CloudCompare</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Point Cloud Clustering</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DBSCAN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DBSCAN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Wrapper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GUI-only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Anomaly Detection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IsolationForest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 API</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52897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Python Support</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 Python API</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Python bindings (slow)</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 Python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CLI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GPU Acceleration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Optional CUDA</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Available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CPU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CPU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Temporal Analysis</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Frame-to-frame easy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Verbose C++</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Possible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Single frame focus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43317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Integration Ease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pip install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build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pip install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Separate software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Documentation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Comprehensive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Dated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Moderate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5188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Anomaly Scoring</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Isolation Forest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Manual coding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wrapping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Not applicable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bl>
          </a:graphicData>
        </a:graphic>
      </p:graphicFrame>
      <p:pic>
        <p:nvPicPr>
          <p:cNvPr id="155" name="Google Shape;155;p18"/>
          <p:cNvPicPr preferRelativeResize="0"/>
          <p:nvPr/>
        </p:nvPicPr>
        <p:blipFill>
          <a:blip r:embed="rId3">
            <a:alphaModFix/>
          </a:blip>
          <a:stretch>
            <a:fillRect/>
          </a:stretch>
        </p:blipFill>
        <p:spPr>
          <a:xfrm>
            <a:off x="8450098" y="91799"/>
            <a:ext cx="613575" cy="41312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1000"/>
                                        <p:tgtEl>
                                          <p:spTgt spid="15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Camera-LiDAR Fusion Quality Metrics</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OpenCV + NumPy + SciPy</a:t>
            </a:r>
            <a:endParaRPr sz="2000">
              <a:solidFill>
                <a:schemeClr val="lt1"/>
              </a:solidFill>
            </a:endParaRPr>
          </a:p>
        </p:txBody>
      </p:sp>
      <p:graphicFrame>
        <p:nvGraphicFramePr>
          <p:cNvPr id="161" name="Google Shape;161;p19"/>
          <p:cNvGraphicFramePr/>
          <p:nvPr/>
        </p:nvGraphicFramePr>
        <p:xfrm>
          <a:off x="447949" y="1687350"/>
          <a:ext cx="3000000" cy="3000000"/>
        </p:xfrm>
        <a:graphic>
          <a:graphicData uri="http://schemas.openxmlformats.org/drawingml/2006/table">
            <a:tbl>
              <a:tblPr>
                <a:noFill/>
                <a:tableStyleId>{3E16531C-AD76-45C2-81AC-FE34C9191F49}</a:tableStyleId>
              </a:tblPr>
              <a:tblGrid>
                <a:gridCol w="1677575"/>
                <a:gridCol w="1982075"/>
                <a:gridCol w="1491675"/>
                <a:gridCol w="1491500"/>
                <a:gridCol w="1554350"/>
              </a:tblGrid>
              <a:tr h="254600">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Aspect</a:t>
                      </a:r>
                      <a:endParaRPr b="1" sz="10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OpenCV + Numpy + SciPy</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COLMAP</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OpenGV</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ROS OpenCV Wrapper</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443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Camera Calibration API</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 calibrateCamera()</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Specialized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Wrapper only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Projection Functions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projectPoints() direct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Internal only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Available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7335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Distortion Handling</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 support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Statistical Analysis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NumPy + SciPy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Minimal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None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443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Illumination Analysis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Histogram + entropy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Not applicable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Not applicable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3876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Python Usability</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Mature Python API</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CLI-focused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 Python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Performance</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Highly optimized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Very fast (C++)</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Fast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Good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Integration Cost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Low (standard libs)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Complex setup</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Moderate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Low</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bl>
          </a:graphicData>
        </a:graphic>
      </p:graphicFrame>
      <p:pic>
        <p:nvPicPr>
          <p:cNvPr id="162" name="Google Shape;162;p19"/>
          <p:cNvPicPr preferRelativeResize="0"/>
          <p:nvPr/>
        </p:nvPicPr>
        <p:blipFill>
          <a:blip r:embed="rId3">
            <a:alphaModFix/>
          </a:blip>
          <a:stretch>
            <a:fillRect/>
          </a:stretch>
        </p:blipFill>
        <p:spPr>
          <a:xfrm>
            <a:off x="8450100" y="87637"/>
            <a:ext cx="613575" cy="413125"/>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1000"/>
                                        <p:tgtEl>
                                          <p:spTgt spid="16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20"/>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solidFill>
                  <a:schemeClr val="accent2"/>
                </a:solidFill>
              </a:rPr>
              <a:t>Automated Health Reporting</a:t>
            </a:r>
            <a:endParaRPr>
              <a:solidFill>
                <a:schemeClr val="accent2"/>
              </a:solidFill>
            </a:endParaRPr>
          </a:p>
          <a:p>
            <a:pPr indent="0" lvl="0" marL="0" rtl="0" algn="l">
              <a:spcBef>
                <a:spcPts val="0"/>
              </a:spcBef>
              <a:spcAft>
                <a:spcPts val="0"/>
              </a:spcAft>
              <a:buClr>
                <a:schemeClr val="lt2"/>
              </a:buClr>
              <a:buSzPts val="3000"/>
              <a:buFont typeface="Encode Sans Black"/>
              <a:buNone/>
            </a:pPr>
            <a:r>
              <a:rPr lang="en-US" sz="2000">
                <a:solidFill>
                  <a:schemeClr val="dk1"/>
                </a:solidFill>
              </a:rPr>
              <a:t>Plotly + Pandas + JSON/CSV Serialization</a:t>
            </a:r>
            <a:endParaRPr sz="2000">
              <a:solidFill>
                <a:schemeClr val="dk1"/>
              </a:solidFill>
            </a:endParaRPr>
          </a:p>
        </p:txBody>
      </p:sp>
      <p:graphicFrame>
        <p:nvGraphicFramePr>
          <p:cNvPr id="168" name="Google Shape;168;p20"/>
          <p:cNvGraphicFramePr/>
          <p:nvPr/>
        </p:nvGraphicFramePr>
        <p:xfrm>
          <a:off x="460525" y="1687350"/>
          <a:ext cx="3000000" cy="3000000"/>
        </p:xfrm>
        <a:graphic>
          <a:graphicData uri="http://schemas.openxmlformats.org/drawingml/2006/table">
            <a:tbl>
              <a:tblPr>
                <a:noFill/>
                <a:tableStyleId>{3E16531C-AD76-45C2-81AC-FE34C9191F49}</a:tableStyleId>
              </a:tblPr>
              <a:tblGrid>
                <a:gridCol w="1815875"/>
                <a:gridCol w="1730600"/>
                <a:gridCol w="1768325"/>
                <a:gridCol w="1302875"/>
                <a:gridCol w="1579500"/>
              </a:tblGrid>
              <a:tr h="2642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Aspect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Plotly + Pandas</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Matplotlib</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Seaborn</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Streamlit</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r>
              <a:tr h="3517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Interactive Time-Series</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a:t>
                      </a:r>
                      <a:r>
                        <a:rPr lang="en-US" sz="1000">
                          <a:solidFill>
                            <a:schemeClr val="lt2"/>
                          </a:solidFill>
                          <a:latin typeface="Encode Sans"/>
                          <a:ea typeface="Encode Sans"/>
                          <a:cs typeface="Encode Sans"/>
                          <a:sym typeface="Encode Sans"/>
                        </a:rPr>
                        <a:t>Static plots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821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Export to HTML</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workaround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Possible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51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Zoom/Pan/Hover</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Manual coding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Performance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Handles 100k+ points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Slow for large data</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Slow</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Good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Export to CSV</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Pandas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Not applicable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694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CI/CD Integration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Standalone HTML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rendering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Server required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Learning Curve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Steeper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40125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Deployment</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Self-contained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Files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Files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app server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bl>
          </a:graphicData>
        </a:graphic>
      </p:graphicFrame>
      <p:pic>
        <p:nvPicPr>
          <p:cNvPr id="169" name="Google Shape;169;p20"/>
          <p:cNvPicPr preferRelativeResize="0"/>
          <p:nvPr/>
        </p:nvPicPr>
        <p:blipFill>
          <a:blip r:embed="rId3">
            <a:alphaModFix/>
          </a:blip>
          <a:stretch>
            <a:fillRect/>
          </a:stretch>
        </p:blipFill>
        <p:spPr>
          <a:xfrm>
            <a:off x="8450098" y="91799"/>
            <a:ext cx="613575" cy="41312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1000"/>
                                        <p:tgtEl>
                                          <p:spTgt spid="16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Summary: Technology Stack -</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RoboQA-Temporal</a:t>
            </a:r>
            <a:endParaRPr sz="2000">
              <a:solidFill>
                <a:schemeClr val="lt1"/>
              </a:solidFill>
            </a:endParaRPr>
          </a:p>
        </p:txBody>
      </p:sp>
      <p:graphicFrame>
        <p:nvGraphicFramePr>
          <p:cNvPr id="175" name="Google Shape;175;p21"/>
          <p:cNvGraphicFramePr/>
          <p:nvPr/>
        </p:nvGraphicFramePr>
        <p:xfrm>
          <a:off x="447949" y="1687350"/>
          <a:ext cx="3000000" cy="3000000"/>
        </p:xfrm>
        <a:graphic>
          <a:graphicData uri="http://schemas.openxmlformats.org/drawingml/2006/table">
            <a:tbl>
              <a:tblPr>
                <a:noFill/>
                <a:tableStyleId>{3E16531C-AD76-45C2-81AC-FE34C9191F49}</a:tableStyleId>
              </a:tblPr>
              <a:tblGrid>
                <a:gridCol w="2288175"/>
                <a:gridCol w="1573700"/>
                <a:gridCol w="2150575"/>
                <a:gridCol w="2184775"/>
              </a:tblGrid>
              <a:tr h="315700">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Feature</a:t>
                      </a:r>
                      <a:endParaRPr b="1" sz="12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Library</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Why Selected</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Competitor</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1: Cross-Modal Sync</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solidFill>
                            <a:schemeClr val="accent6"/>
                          </a:solidFill>
                          <a:latin typeface="Encode Sans"/>
                          <a:ea typeface="Encode Sans"/>
                          <a:cs typeface="Encode Sans"/>
                          <a:sym typeface="Encode Sans"/>
                        </a:rPr>
                        <a:t>rosbag + message_filters</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Native ROS, </a:t>
                      </a:r>
                      <a:r>
                        <a:rPr lang="en-US" sz="1200">
                          <a:latin typeface="Encode Sans"/>
                          <a:ea typeface="Encode Sans"/>
                          <a:cs typeface="Encode Sans"/>
                          <a:sym typeface="Encode Sans"/>
                        </a:rPr>
                        <a:t>no learning curve, production-proven</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MATLAB ( $$$ costly ), Custom Parser</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2: Point Cloud Anomalies</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solidFill>
                            <a:schemeClr val="accent6"/>
                          </a:solidFill>
                          <a:latin typeface="Encode Sans"/>
                          <a:ea typeface="Encode Sans"/>
                          <a:cs typeface="Encode Sans"/>
                          <a:sym typeface="Encode Sans"/>
                        </a:rPr>
                        <a:t>Open3D + scikit-learn</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DBSCAN + IsolationForest, GPU support	</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PCL (C++ overhead), PyVista (generic)</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3: Fusion Quality</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US" sz="1200">
                          <a:solidFill>
                            <a:schemeClr val="accent6"/>
                          </a:solidFill>
                          <a:latin typeface="Encode Sans"/>
                          <a:ea typeface="Encode Sans"/>
                          <a:cs typeface="Encode Sans"/>
                          <a:sym typeface="Encode Sans"/>
                        </a:rPr>
                        <a:t>OpenCV + NumPy + SciPy</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Native calibration + projection APIs</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COLMAP (reconstruction focused), OpenGV (pose-only)</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516000">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4: Reporting</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US" sz="1200">
                          <a:solidFill>
                            <a:schemeClr val="accent6"/>
                          </a:solidFill>
                          <a:latin typeface="Encode Sans"/>
                          <a:ea typeface="Encode Sans"/>
                          <a:cs typeface="Encode Sans"/>
                          <a:sym typeface="Encode Sans"/>
                        </a:rPr>
                        <a:t>Plotly + Pandas</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Interactive dashboards</a:t>
                      </a:r>
                      <a:r>
                        <a:rPr lang="en-US" sz="1200">
                          <a:latin typeface="Encode Sans"/>
                          <a:ea typeface="Encode Sans"/>
                          <a:cs typeface="Encode Sans"/>
                          <a:sym typeface="Encode Sans"/>
                        </a:rPr>
                        <a:t> + </a:t>
                      </a:r>
                      <a:r>
                        <a:rPr lang="en-US" sz="1200">
                          <a:latin typeface="Encode Sans"/>
                          <a:ea typeface="Encode Sans"/>
                          <a:cs typeface="Encode Sans"/>
                          <a:sym typeface="Encode Sans"/>
                        </a:rPr>
                        <a:t>CSV / JSON export</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Matplotlib (static), Streamlit (server is required)</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bl>
          </a:graphicData>
        </a:graphic>
      </p:graphicFrame>
    </p:spTree>
  </p:cSld>
  <p:clrMapOvr>
    <a:masterClrMapping/>
  </p:clrMapOvr>
  <mc:AlternateContent>
    <mc:Choice Requires="p14">
      <p:transition spd="slow" p14:dur="10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2"/>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Thank you for paying attention !!</a:t>
            </a:r>
            <a:endParaRPr sz="2000">
              <a:solidFill>
                <a:schemeClr val="lt1"/>
              </a:solidFill>
            </a:endParaRPr>
          </a:p>
        </p:txBody>
      </p:sp>
      <p:pic>
        <p:nvPicPr>
          <p:cNvPr id="181" name="Google Shape;181;p22"/>
          <p:cNvPicPr preferRelativeResize="0"/>
          <p:nvPr/>
        </p:nvPicPr>
        <p:blipFill rotWithShape="1">
          <a:blip r:embed="rId3">
            <a:alphaModFix/>
          </a:blip>
          <a:srcRect b="6164" l="4738" r="5679" t="0"/>
          <a:stretch/>
        </p:blipFill>
        <p:spPr>
          <a:xfrm>
            <a:off x="2594750" y="1818475"/>
            <a:ext cx="3903550" cy="2240175"/>
          </a:xfrm>
          <a:prstGeom prst="rect">
            <a:avLst/>
          </a:prstGeom>
          <a:noFill/>
          <a:ln>
            <a:noFill/>
          </a:ln>
        </p:spPr>
      </p:pic>
      <p:sp>
        <p:nvSpPr>
          <p:cNvPr id="182" name="Google Shape;182;p22"/>
          <p:cNvSpPr txBox="1"/>
          <p:nvPr>
            <p:ph type="title"/>
          </p:nvPr>
        </p:nvSpPr>
        <p:spPr>
          <a:xfrm>
            <a:off x="-11476" y="4396971"/>
            <a:ext cx="6793800" cy="4821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b="0" lang="en-US" sz="1300">
                <a:solidFill>
                  <a:schemeClr val="accent2"/>
                </a:solidFill>
              </a:rPr>
              <a:t>~ </a:t>
            </a:r>
            <a:r>
              <a:rPr b="0" lang="en-US" sz="1300">
                <a:solidFill>
                  <a:schemeClr val="accent2"/>
                </a:solidFill>
              </a:rPr>
              <a:t>XinXin Tai, </a:t>
            </a:r>
            <a:r>
              <a:rPr b="0" lang="en-US" sz="1300"/>
              <a:t>Sayali Nehul</a:t>
            </a:r>
            <a:r>
              <a:rPr b="0" lang="en-US" sz="1300">
                <a:solidFill>
                  <a:schemeClr val="accent2"/>
                </a:solidFill>
              </a:rPr>
              <a:t>, Dharinesh Somisetty, </a:t>
            </a:r>
            <a:r>
              <a:rPr b="0" lang="en-US" sz="1300"/>
              <a:t>Archit Jain</a:t>
            </a:r>
            <a:endParaRPr b="0" sz="1300"/>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ppt_w</p:attrName>
                                        </p:attrNameLst>
                                      </p:cBhvr>
                                      <p:tavLst>
                                        <p:tav fmla="" tm="0">
                                          <p:val>
                                            <p:strVal val="0"/>
                                          </p:val>
                                        </p:tav>
                                        <p:tav fmla="" tm="100000">
                                          <p:val>
                                            <p:strVal val="#ppt_w"/>
                                          </p:val>
                                        </p:tav>
                                      </p:tavLst>
                                    </p:anim>
                                    <p:anim calcmode="lin" valueType="num">
                                      <p:cBhvr additive="base">
                                        <p:cTn dur="500"/>
                                        <p:tgtEl>
                                          <p:spTgt spid="18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UW Purple">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W White">
  <a:themeElements>
    <a:clrScheme name="Custom 2">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